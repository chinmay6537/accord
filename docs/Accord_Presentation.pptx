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fecf108-0c1a-43bc-fe53-07c471a8e2e9}">
          <p14:sldIdLst>
            <p14:sldId id="256"/>
          </p14:sldIdLst>
        </p14:section>
        <p14:section name="Problem" id="{31ad0839-ba16-9b87-e60e-ba12503bafdd}">
          <p14:sldIdLst>
            <p14:sldId id="257"/>
            <p14:sldId id="258"/>
          </p14:sldIdLst>
        </p14:section>
        <p14:section name="Solution" id="{3a45fcc1-8bdb-741e-18cc-47c06b220042}">
          <p14:sldIdLst>
            <p14:sldId id="259"/>
            <p14:sldId id="260"/>
          </p14:sldIdLst>
        </p14:section>
        <p14:section name="Innovation" id="{2adf0319-009d-79bc-a66e-3889dd8bb26f}">
          <p14:sldIdLst>
            <p14:sldId id="261"/>
            <p14:sldId id="262"/>
            <p14:sldId id="263"/>
            <p14:sldId id="264"/>
          </p14:sldIdLst>
        </p14:section>
        <p14:section name="Build" id="{49a98e7a-fc81-6137-2c10-f1e692fa477a}">
          <p14:sldIdLst>
            <p14:sldId id="265"/>
            <p14:sldId id="266"/>
          </p14:sldIdLst>
        </p14:section>
        <p14:section name="Results" id="{d58c333c-0146-0c9e-dd69-5afef0e88d75}">
          <p14:sldIdLst>
            <p14:sldId id="267"/>
            <p14:sldId id="268"/>
          </p14:sldIdLst>
        </p14:section>
        <p14:section name="Close" id="{7a3e7aba-c782-4307-14c0-ec6ce0a6db13}">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statement LS-06. One line: Accord turns a messy WhatsApp deal into an agreement both people have actually checked, with proof nobody can quietly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sample chat. Each number is a real message. The price moves four times and the order itself changes. Three weeks later each person remembers a different number. A contract is too heavy for this, and a chat is weak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users are small dealers: printers, tailors, caterers, contractors, resellers, freelancers. Almost none use written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key difference is step 5: the customer checks each term against the original messages, not just signs a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public demo on the landing page. No login. Press the button on the sample chat. Point at the summary: 46,500 was for 500 cards, when the order became 600 the price became 54,000. Every term shows the exact message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tools turn a chat into a contract and collect a signature. We aim at getting two people to actually agree on the same facts. We only reviewed PakkaWork's public listing, so describe it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took the last amount in the chat as the price and showed 54k when someone expected 46k. The fix: tag every amount, track quantity over time, tie each price to the quantity in force, and only accept a price the other side agreed to. A later quote nobody accepted is flagged and does not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customer view. Each term shows only the messages cited behind it. They mark match or does not match. The approve button stays locked until every term is checked, and the server enforces that, not only the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upload, edit, agreement and approval becomes one entry with its own SHA-256 and the hash of the previous entry. Change anything old and every later hash stops matching. The dealer page has a Simulate tampering button so you can watch the check fail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HTML, CSS and JavaScript in the browser; FastAPI in Python on the server; one SQLite file plus an uploads folder. Extraction has three engines: the rules reader, an optional local model through Ollama, and optional Claude. Every model answer passes through the safety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we used Claude to help write the code. Inside the product, the default reader has no AI. The local model and Claude are optional and always checked against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automated tests, all passing. They cover accounts, privacy between dealers, the approval gate, evidence chain tamper detection, PDF access rules and the extraction logic including the 500 to 600 cards case. Be honest: we have not measured accuracy on a large set of real chats.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clearly what is demonstrated from what is simulated or planned. The OTP on the confirm link is a demo flow: the code shows on screen, no SMS is sent. The local model path is built and tested against a fake server; confirm it on the Mac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one-liner. Invite questions. Likely questions: legal validity (it is evidence of agreement plus mutual confirmation, not a replacement for a lawyer), what if the AI is wrong (every term is editable and checked by both sides), why not a template (nobody fills one in mid-conversation).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0F0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Shape 0"/>
          <p:cNvSpPr/>
          <p:nvPr/>
        </p:nvSpPr>
        <p:spPr>
          <a:xfrm>
            <a:off x="0" y="4846320"/>
            <a:ext cx="9144000" cy="297180"/>
          </a:xfrm>
          <a:prstGeom prst="rect">
            <a:avLst/>
          </a:prstGeom>
          <a:solidFill>
            <a:srgbClr val="FFFFFF"/>
          </a:solidFill>
          <a:ln w="12700">
            <a:solidFill>
              <a:srgbClr val="000000"/>
            </a:solidFill>
            <a:prstDash val="solid"/>
          </a:ln>
        </p:spPr>
      </p:sp>
      <p:sp>
        <p:nvSpPr>
          <p:cNvPr id="4" name="Text 1"/>
          <p:cNvSpPr/>
          <p:nvPr/>
        </p:nvSpPr>
        <p:spPr>
          <a:xfrm>
            <a:off x="457200" y="4846320"/>
            <a:ext cx="4572000" cy="297180"/>
          </a:xfrm>
          <a:prstGeom prst="rect">
            <a:avLst/>
          </a:prstGeom>
          <a:noFill/>
          <a:ln/>
        </p:spPr>
        <p:txBody>
          <a:bodyPr wrap="square" lIns="0" tIns="0" rIns="0" bIns="0" rtlCol="0" anchor="ctr"/>
          <a:lstStyle/>
          <a:p>
            <a:pPr indent="0" marL="0">
              <a:buNone/>
            </a:pPr>
            <a:r>
              <a:rPr lang="en-US" sz="1000" dirty="0">
                <a:solidFill>
                  <a:srgbClr val="000000"/>
                </a:solidFill>
                <a:latin typeface="Courier New" pitchFamily="34" charset="0"/>
                <a:ea typeface="Courier New" pitchFamily="34" charset="-122"/>
                <a:cs typeface="Courier New" pitchFamily="34" charset="-120"/>
              </a:rPr>
              <a:t>ACCORD  ·  Team Big Leagues</a:t>
            </a:r>
            <a:endParaRPr lang="en-US" sz="10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8046720" cy="274320"/>
          </a:xfrm>
          <a:prstGeom prst="rect">
            <a:avLst/>
          </a:prstGeom>
          <a:noFill/>
          <a:ln/>
        </p:spPr>
        <p:txBody>
          <a:bodyPr wrap="square" lIns="0" tIns="0" rIns="0" bIns="0" rtlCol="0" anchor="t"/>
          <a:lstStyle/>
          <a:p>
            <a:pPr indent="0" marL="0">
              <a:buNone/>
            </a:pPr>
            <a:r>
              <a:rPr lang="en-US" sz="1200" spc="200" kern="0" dirty="0">
                <a:solidFill>
                  <a:srgbClr val="FFFFFF"/>
                </a:solidFill>
                <a:latin typeface="Courier New" pitchFamily="34" charset="0"/>
                <a:ea typeface="Courier New" pitchFamily="34" charset="-122"/>
                <a:cs typeface="Courier New" pitchFamily="34" charset="-120"/>
              </a:rPr>
              <a:t>LS-06  ·  FROM HANDSHAKE TO CONTRACT</a:t>
            </a:r>
            <a:endParaRPr lang="en-US" sz="1200" dirty="0"/>
          </a:p>
        </p:txBody>
      </p:sp>
      <p:sp>
        <p:nvSpPr>
          <p:cNvPr id="3" name="Text 1"/>
          <p:cNvSpPr txBox="1"/>
          <p:nvPr/>
        </p:nvSpPr>
        <p:spPr>
          <a:xfrm>
            <a:off x="548640" y="1188720"/>
            <a:ext cx="8046720" cy="1371600"/>
          </a:xfrm>
          <a:prstGeom prst="rect">
            <a:avLst/>
          </a:prstGeom>
          <a:noFill/>
          <a:ln/>
        </p:spPr>
        <p:txBody>
          <a:bodyPr wrap="square" lIns="0" tIns="0" rIns="0" bIns="0" rtlCol="0" anchor="ctr"/>
          <a:lstStyle/>
          <a:p>
            <a:pPr indent="0" marL="0">
              <a:buNone/>
            </a:pPr>
            <a:r>
              <a:rPr lang="en-US" sz="8800" b="1" dirty="0">
                <a:solidFill>
                  <a:srgbClr val="FFFFFF"/>
                </a:solidFill>
                <a:latin typeface="Arial" pitchFamily="34" charset="0"/>
                <a:ea typeface="Arial" pitchFamily="34" charset="-122"/>
                <a:cs typeface="Arial" pitchFamily="34" charset="-120"/>
              </a:rPr>
              <a:t>ACCORD</a:t>
            </a:r>
            <a:endParaRPr lang="en-US" sz="8800" dirty="0"/>
          </a:p>
        </p:txBody>
      </p:sp>
      <p:sp>
        <p:nvSpPr>
          <p:cNvPr id="4" name="Text 2"/>
          <p:cNvSpPr txBox="1"/>
          <p:nvPr/>
        </p:nvSpPr>
        <p:spPr>
          <a:xfrm>
            <a:off x="548640" y="2697480"/>
            <a:ext cx="6949440" cy="82296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From a chat to a commitment both sides have checked.</a:t>
            </a:r>
            <a:endParaRPr lang="en-US" sz="2400" dirty="0"/>
          </a:p>
        </p:txBody>
      </p:sp>
      <p:sp>
        <p:nvSpPr>
          <p:cNvPr id="5" name="teamtag"/>
          <p:cNvSpPr/>
          <p:nvPr/>
        </p:nvSpPr>
        <p:spPr>
          <a:xfrm>
            <a:off x="548640" y="3931920"/>
            <a:ext cx="2926080" cy="457200"/>
          </a:xfrm>
          <a:prstGeom prst="rect">
            <a:avLst/>
          </a:prstGeom>
          <a:solidFill>
            <a:srgbClr val="FFFFFF"/>
          </a:solidFill>
          <a:ln w="12700">
            <a:solidFill>
              <a:srgbClr val="FFFFFF"/>
            </a:solidFill>
            <a:prstDash val="solid"/>
          </a:ln>
        </p:spPr>
      </p:sp>
      <p:sp>
        <p:nvSpPr>
          <p:cNvPr id="6" name="Text 4"/>
          <p:cNvSpPr txBox="1"/>
          <p:nvPr/>
        </p:nvSpPr>
        <p:spPr>
          <a:xfrm>
            <a:off x="548640" y="3931920"/>
            <a:ext cx="2926080" cy="457200"/>
          </a:xfrm>
          <a:prstGeom prst="rect">
            <a:avLst/>
          </a:prstGeom>
          <a:noFill/>
          <a:ln/>
        </p:spPr>
        <p:txBody>
          <a:bodyPr wrap="square" lIns="0" tIns="0" rIns="0" bIns="0" rtlCol="0" anchor="ctr"/>
          <a:lstStyle/>
          <a:p>
            <a:pPr algn="ctr" indent="0" marL="0">
              <a:buNone/>
            </a:pPr>
            <a:r>
              <a:rPr lang="en-US" sz="1400" b="1" dirty="0">
                <a:solidFill>
                  <a:srgbClr val="000000"/>
                </a:solidFill>
                <a:latin typeface="Courier New" pitchFamily="34" charset="0"/>
                <a:ea typeface="Courier New" pitchFamily="34" charset="-122"/>
                <a:cs typeface="Courier New" pitchFamily="34" charset="-120"/>
              </a:rPr>
              <a:t>TEAM BIG LEAGUES</a:t>
            </a:r>
            <a:endParaRPr lang="en-US" sz="1400" dirty="0"/>
          </a:p>
        </p:txBody>
      </p:sp>
      <p:sp>
        <p:nvSpPr>
          <p:cNvPr id="25" name="Slide Number Placeholder 0"/>
          <p:cNvSpPr>
            <a:spLocks noGrp="1"/>
          </p:cNvSpPr>
          <p:nvPr>
            <p:ph type="sldNum" sz="quarter" idx="4294967295"/>
          </p:nvPr>
        </p:nvSpPr>
        <p:spPr>
          <a:xfrm>
            <a:off x="822960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Deals happen on WhatsApp. Then they drift.</a:t>
            </a:r>
            <a:endParaRPr lang="en-US" sz="3000" dirty="0"/>
          </a:p>
        </p:txBody>
      </p:sp>
      <p:sp>
        <p:nvSpPr>
          <p:cNvPr id="4" name="shadow2"/>
          <p:cNvSpPr/>
          <p:nvPr/>
        </p:nvSpPr>
        <p:spPr>
          <a:xfrm>
            <a:off x="512064" y="1289304"/>
            <a:ext cx="1828800" cy="1600200"/>
          </a:xfrm>
          <a:prstGeom prst="rect">
            <a:avLst/>
          </a:prstGeom>
          <a:solidFill>
            <a:srgbClr val="000000"/>
          </a:solidFill>
          <a:ln w="12700">
            <a:solidFill>
              <a:srgbClr val="000000"/>
            </a:solidFill>
            <a:prstDash val="solid"/>
          </a:ln>
        </p:spPr>
      </p:sp>
      <p:sp>
        <p:nvSpPr>
          <p:cNvPr id="5" name="card2"/>
          <p:cNvSpPr/>
          <p:nvPr/>
        </p:nvSpPr>
        <p:spPr>
          <a:xfrm>
            <a:off x="457200" y="1234440"/>
            <a:ext cx="1828800" cy="1600200"/>
          </a:xfrm>
          <a:prstGeom prst="rect">
            <a:avLst/>
          </a:prstGeom>
          <a:solidFill>
            <a:srgbClr val="FFFFFF"/>
          </a:solidFill>
          <a:ln w="25400">
            <a:solidFill>
              <a:srgbClr val="000000"/>
            </a:solidFill>
            <a:prstDash val="solid"/>
          </a:ln>
        </p:spPr>
      </p:sp>
      <p:sp>
        <p:nvSpPr>
          <p:cNvPr id="6" name="Text 3"/>
          <p:cNvSpPr txBox="1"/>
          <p:nvPr/>
        </p:nvSpPr>
        <p:spPr>
          <a:xfrm>
            <a:off x="594360" y="1371600"/>
            <a:ext cx="1554480" cy="54864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₹48,000</a:t>
            </a:r>
            <a:endParaRPr lang="en-US" sz="2600" dirty="0"/>
          </a:p>
        </p:txBody>
      </p:sp>
      <p:sp>
        <p:nvSpPr>
          <p:cNvPr id="7" name="Text 4"/>
          <p:cNvSpPr txBox="1"/>
          <p:nvPr/>
        </p:nvSpPr>
        <p:spPr>
          <a:xfrm>
            <a:off x="594360" y="2011680"/>
            <a:ext cx="1554480" cy="7315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500 cards</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first quote</a:t>
            </a:r>
            <a:endParaRPr lang="en-US" sz="1400" dirty="0"/>
          </a:p>
        </p:txBody>
      </p:sp>
      <p:sp>
        <p:nvSpPr>
          <p:cNvPr id="8" name="Text 5"/>
          <p:cNvSpPr txBox="1"/>
          <p:nvPr/>
        </p:nvSpPr>
        <p:spPr>
          <a:xfrm>
            <a:off x="2286000" y="1783080"/>
            <a:ext cx="274320" cy="365760"/>
          </a:xfrm>
          <a:prstGeom prst="rect">
            <a:avLst/>
          </a:prstGeom>
          <a:noFill/>
          <a:ln/>
        </p:spPr>
        <p:txBody>
          <a:bodyPr wrap="square" lIns="0" tIns="0" rIns="0" bIns="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a:t>
            </a:r>
            <a:endParaRPr lang="en-US" sz="2000" dirty="0"/>
          </a:p>
        </p:txBody>
      </p:sp>
      <p:sp>
        <p:nvSpPr>
          <p:cNvPr id="9" name="shadow3"/>
          <p:cNvSpPr/>
          <p:nvPr/>
        </p:nvSpPr>
        <p:spPr>
          <a:xfrm>
            <a:off x="2615184" y="1289304"/>
            <a:ext cx="1828800" cy="1600200"/>
          </a:xfrm>
          <a:prstGeom prst="rect">
            <a:avLst/>
          </a:prstGeom>
          <a:solidFill>
            <a:srgbClr val="000000"/>
          </a:solidFill>
          <a:ln w="12700">
            <a:solidFill>
              <a:srgbClr val="000000"/>
            </a:solidFill>
            <a:prstDash val="solid"/>
          </a:ln>
        </p:spPr>
      </p:sp>
      <p:sp>
        <p:nvSpPr>
          <p:cNvPr id="10" name="card3"/>
          <p:cNvSpPr/>
          <p:nvPr/>
        </p:nvSpPr>
        <p:spPr>
          <a:xfrm>
            <a:off x="2560320" y="1234440"/>
            <a:ext cx="1828800" cy="1600200"/>
          </a:xfrm>
          <a:prstGeom prst="rect">
            <a:avLst/>
          </a:prstGeom>
          <a:solidFill>
            <a:srgbClr val="FFFFFF"/>
          </a:solidFill>
          <a:ln w="25400">
            <a:solidFill>
              <a:srgbClr val="000000"/>
            </a:solidFill>
            <a:prstDash val="solid"/>
          </a:ln>
        </p:spPr>
      </p:sp>
      <p:sp>
        <p:nvSpPr>
          <p:cNvPr id="11" name="Text 8"/>
          <p:cNvSpPr txBox="1"/>
          <p:nvPr/>
        </p:nvSpPr>
        <p:spPr>
          <a:xfrm>
            <a:off x="2697480" y="1371600"/>
            <a:ext cx="1554480" cy="54864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₹45,000</a:t>
            </a:r>
            <a:endParaRPr lang="en-US" sz="2600" dirty="0"/>
          </a:p>
        </p:txBody>
      </p:sp>
      <p:sp>
        <p:nvSpPr>
          <p:cNvPr id="12" name="Text 9"/>
          <p:cNvSpPr txBox="1"/>
          <p:nvPr/>
        </p:nvSpPr>
        <p:spPr>
          <a:xfrm>
            <a:off x="2697480" y="2011680"/>
            <a:ext cx="1554480" cy="7315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500 cards</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"thoda kam karo"</a:t>
            </a:r>
            <a:endParaRPr lang="en-US" sz="1400" dirty="0"/>
          </a:p>
        </p:txBody>
      </p:sp>
      <p:sp>
        <p:nvSpPr>
          <p:cNvPr id="13" name="Text 10"/>
          <p:cNvSpPr txBox="1"/>
          <p:nvPr/>
        </p:nvSpPr>
        <p:spPr>
          <a:xfrm>
            <a:off x="4389120" y="1783080"/>
            <a:ext cx="274320" cy="365760"/>
          </a:xfrm>
          <a:prstGeom prst="rect">
            <a:avLst/>
          </a:prstGeom>
          <a:noFill/>
          <a:ln/>
        </p:spPr>
        <p:txBody>
          <a:bodyPr wrap="square" lIns="0" tIns="0" rIns="0" bIns="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a:t>
            </a:r>
            <a:endParaRPr lang="en-US" sz="2000" dirty="0"/>
          </a:p>
        </p:txBody>
      </p:sp>
      <p:sp>
        <p:nvSpPr>
          <p:cNvPr id="14" name="shadow4"/>
          <p:cNvSpPr/>
          <p:nvPr/>
        </p:nvSpPr>
        <p:spPr>
          <a:xfrm>
            <a:off x="4718304" y="1289304"/>
            <a:ext cx="1828800" cy="1600200"/>
          </a:xfrm>
          <a:prstGeom prst="rect">
            <a:avLst/>
          </a:prstGeom>
          <a:solidFill>
            <a:srgbClr val="000000"/>
          </a:solidFill>
          <a:ln w="12700">
            <a:solidFill>
              <a:srgbClr val="000000"/>
            </a:solidFill>
            <a:prstDash val="solid"/>
          </a:ln>
        </p:spPr>
      </p:sp>
      <p:sp>
        <p:nvSpPr>
          <p:cNvPr id="15" name="card4"/>
          <p:cNvSpPr/>
          <p:nvPr/>
        </p:nvSpPr>
        <p:spPr>
          <a:xfrm>
            <a:off x="4663440" y="1234440"/>
            <a:ext cx="1828800" cy="1600200"/>
          </a:xfrm>
          <a:prstGeom prst="rect">
            <a:avLst/>
          </a:prstGeom>
          <a:solidFill>
            <a:srgbClr val="FFFFFF"/>
          </a:solidFill>
          <a:ln w="25400">
            <a:solidFill>
              <a:srgbClr val="000000"/>
            </a:solidFill>
            <a:prstDash val="solid"/>
          </a:ln>
        </p:spPr>
      </p:sp>
      <p:sp>
        <p:nvSpPr>
          <p:cNvPr id="16" name="Text 13"/>
          <p:cNvSpPr txBox="1"/>
          <p:nvPr/>
        </p:nvSpPr>
        <p:spPr>
          <a:xfrm>
            <a:off x="4800600" y="1371600"/>
            <a:ext cx="1554480" cy="54864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₹46,500</a:t>
            </a:r>
            <a:endParaRPr lang="en-US" sz="2600" dirty="0"/>
          </a:p>
        </p:txBody>
      </p:sp>
      <p:sp>
        <p:nvSpPr>
          <p:cNvPr id="17" name="Text 14"/>
          <p:cNvSpPr txBox="1"/>
          <p:nvPr/>
        </p:nvSpPr>
        <p:spPr>
          <a:xfrm>
            <a:off x="4800600" y="2011680"/>
            <a:ext cx="1554480" cy="7315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500 cards</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"theek hai, done"</a:t>
            </a:r>
            <a:endParaRPr lang="en-US" sz="1400" dirty="0"/>
          </a:p>
        </p:txBody>
      </p:sp>
      <p:sp>
        <p:nvSpPr>
          <p:cNvPr id="18" name="Text 15"/>
          <p:cNvSpPr txBox="1"/>
          <p:nvPr/>
        </p:nvSpPr>
        <p:spPr>
          <a:xfrm>
            <a:off x="6492240" y="1783080"/>
            <a:ext cx="274320" cy="365760"/>
          </a:xfrm>
          <a:prstGeom prst="rect">
            <a:avLst/>
          </a:prstGeom>
          <a:noFill/>
          <a:ln/>
        </p:spPr>
        <p:txBody>
          <a:bodyPr wrap="square" lIns="0" tIns="0" rIns="0" bIns="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a:t>
            </a:r>
            <a:endParaRPr lang="en-US" sz="2000" dirty="0"/>
          </a:p>
        </p:txBody>
      </p:sp>
      <p:sp>
        <p:nvSpPr>
          <p:cNvPr id="19" name="shadow5"/>
          <p:cNvSpPr/>
          <p:nvPr/>
        </p:nvSpPr>
        <p:spPr>
          <a:xfrm>
            <a:off x="6821424" y="1289304"/>
            <a:ext cx="1828800" cy="1600200"/>
          </a:xfrm>
          <a:prstGeom prst="rect">
            <a:avLst/>
          </a:prstGeom>
          <a:solidFill>
            <a:srgbClr val="000000"/>
          </a:solidFill>
          <a:ln w="12700">
            <a:solidFill>
              <a:srgbClr val="000000"/>
            </a:solidFill>
            <a:prstDash val="solid"/>
          </a:ln>
        </p:spPr>
      </p:sp>
      <p:sp>
        <p:nvSpPr>
          <p:cNvPr id="20" name="card5"/>
          <p:cNvSpPr/>
          <p:nvPr/>
        </p:nvSpPr>
        <p:spPr>
          <a:xfrm>
            <a:off x="6766560" y="1234440"/>
            <a:ext cx="1828800" cy="1600200"/>
          </a:xfrm>
          <a:prstGeom prst="rect">
            <a:avLst/>
          </a:prstGeom>
          <a:solidFill>
            <a:srgbClr val="000000"/>
          </a:solidFill>
          <a:ln w="25400">
            <a:solidFill>
              <a:srgbClr val="000000"/>
            </a:solidFill>
            <a:prstDash val="solid"/>
          </a:ln>
        </p:spPr>
      </p:sp>
      <p:sp>
        <p:nvSpPr>
          <p:cNvPr id="21" name="Text 18"/>
          <p:cNvSpPr txBox="1"/>
          <p:nvPr/>
        </p:nvSpPr>
        <p:spPr>
          <a:xfrm>
            <a:off x="6903720" y="1371600"/>
            <a:ext cx="155448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₹54,000</a:t>
            </a:r>
            <a:endParaRPr lang="en-US" sz="2600" dirty="0"/>
          </a:p>
        </p:txBody>
      </p:sp>
      <p:sp>
        <p:nvSpPr>
          <p:cNvPr id="22" name="Text 19"/>
          <p:cNvSpPr txBox="1"/>
          <p:nvPr/>
        </p:nvSpPr>
        <p:spPr>
          <a:xfrm>
            <a:off x="6903720" y="2011680"/>
            <a:ext cx="1554480" cy="73152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600 cards</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order changed</a:t>
            </a:r>
            <a:endParaRPr lang="en-US" sz="1400" dirty="0"/>
          </a:p>
        </p:txBody>
      </p:sp>
      <p:sp>
        <p:nvSpPr>
          <p:cNvPr id="23" name="Text 20"/>
          <p:cNvSpPr txBox="1"/>
          <p:nvPr/>
        </p:nvSpPr>
        <p:spPr>
          <a:xfrm>
            <a:off x="457200" y="3291840"/>
            <a:ext cx="8229600" cy="10972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Which number was agreed? </a:t>
            </a:r>
            <a:pPr indent="0" marL="0">
              <a:buNone/>
            </a:pPr>
            <a:r>
              <a:rPr lang="en-US" sz="1800" dirty="0">
                <a:solidFill>
                  <a:schemeClr val="tx1"/>
                </a:solidFill>
                <a:latin typeface="Arial" pitchFamily="34" charset="0"/>
                <a:ea typeface="Arial" pitchFamily="34" charset="-122"/>
                <a:cs typeface="Arial" pitchFamily="34" charset="-120"/>
              </a:rPr>
              <a:t>Memory, screenshots and a long chat are not proof, and a formal contract feels too aggressive between people who have worked together for years.</a:t>
            </a:r>
            <a:endParaRPr lang="en-US" sz="18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Four things go wrong</a:t>
            </a:r>
            <a:endParaRPr lang="en-US" sz="3000" dirty="0"/>
          </a:p>
        </p:txBody>
      </p:sp>
      <p:sp>
        <p:nvSpPr>
          <p:cNvPr id="4" name="shadow6"/>
          <p:cNvSpPr/>
          <p:nvPr/>
        </p:nvSpPr>
        <p:spPr>
          <a:xfrm>
            <a:off x="512064" y="1289304"/>
            <a:ext cx="3931920" cy="1463040"/>
          </a:xfrm>
          <a:prstGeom prst="rect">
            <a:avLst/>
          </a:prstGeom>
          <a:solidFill>
            <a:srgbClr val="000000"/>
          </a:solidFill>
          <a:ln w="12700">
            <a:solidFill>
              <a:srgbClr val="000000"/>
            </a:solidFill>
            <a:prstDash val="solid"/>
          </a:ln>
        </p:spPr>
      </p:sp>
      <p:sp>
        <p:nvSpPr>
          <p:cNvPr id="5" name="card6"/>
          <p:cNvSpPr/>
          <p:nvPr/>
        </p:nvSpPr>
        <p:spPr>
          <a:xfrm>
            <a:off x="457200" y="1234440"/>
            <a:ext cx="3931920" cy="1463040"/>
          </a:xfrm>
          <a:prstGeom prst="rect">
            <a:avLst/>
          </a:prstGeom>
          <a:solidFill>
            <a:srgbClr val="FFFFFF"/>
          </a:solidFill>
          <a:ln w="25400">
            <a:solidFill>
              <a:srgbClr val="000000"/>
            </a:solidFill>
            <a:prstDash val="solid"/>
          </a:ln>
        </p:spPr>
      </p:sp>
      <p:sp>
        <p:nvSpPr>
          <p:cNvPr id="6" name="Text 3"/>
          <p:cNvSpPr txBox="1"/>
          <p:nvPr/>
        </p:nvSpPr>
        <p:spPr>
          <a:xfrm>
            <a:off x="640080" y="1371600"/>
            <a:ext cx="640080" cy="457200"/>
          </a:xfrm>
          <a:prstGeom prst="rect">
            <a:avLst/>
          </a:prstGeom>
          <a:noFill/>
          <a:ln/>
        </p:spPr>
        <p:txBody>
          <a:bodyPr wrap="square" lIns="0" tIns="0" rIns="0" bIns="0" rtlCol="0" anchor="t"/>
          <a:lstStyle/>
          <a:p>
            <a:pPr indent="0" marL="0">
              <a:buNone/>
            </a:pPr>
            <a:r>
              <a:rPr lang="en-US" sz="2200" b="1" dirty="0">
                <a:solidFill>
                  <a:schemeClr val="tx1"/>
                </a:solidFill>
                <a:latin typeface="Courier New" pitchFamily="34" charset="0"/>
                <a:ea typeface="Courier New" pitchFamily="34" charset="-122"/>
                <a:cs typeface="Courier New" pitchFamily="34" charset="-120"/>
              </a:rPr>
              <a:t>01</a:t>
            </a:r>
            <a:endParaRPr lang="en-US" sz="2200" dirty="0"/>
          </a:p>
        </p:txBody>
      </p:sp>
      <p:sp>
        <p:nvSpPr>
          <p:cNvPr id="7" name="Text 4"/>
          <p:cNvSpPr txBox="1"/>
          <p:nvPr/>
        </p:nvSpPr>
        <p:spPr>
          <a:xfrm>
            <a:off x="1280160" y="1389888"/>
            <a:ext cx="292608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Terms drift</a:t>
            </a:r>
            <a:endParaRPr lang="en-US" sz="1800" dirty="0"/>
          </a:p>
        </p:txBody>
      </p:sp>
      <p:sp>
        <p:nvSpPr>
          <p:cNvPr id="8" name="Text 5"/>
          <p:cNvSpPr txBox="1"/>
          <p:nvPr/>
        </p:nvSpPr>
        <p:spPr>
          <a:xfrm>
            <a:off x="1280160" y="1828800"/>
            <a:ext cx="2926080" cy="7772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Price and quantity change mid-chat and nobody tracks which version won.</a:t>
            </a:r>
            <a:endParaRPr lang="en-US" sz="1400" dirty="0"/>
          </a:p>
        </p:txBody>
      </p:sp>
      <p:sp>
        <p:nvSpPr>
          <p:cNvPr id="9" name="shadow7"/>
          <p:cNvSpPr/>
          <p:nvPr/>
        </p:nvSpPr>
        <p:spPr>
          <a:xfrm>
            <a:off x="4718304" y="1289304"/>
            <a:ext cx="3931920" cy="1463040"/>
          </a:xfrm>
          <a:prstGeom prst="rect">
            <a:avLst/>
          </a:prstGeom>
          <a:solidFill>
            <a:srgbClr val="000000"/>
          </a:solidFill>
          <a:ln w="12700">
            <a:solidFill>
              <a:srgbClr val="000000"/>
            </a:solidFill>
            <a:prstDash val="solid"/>
          </a:ln>
        </p:spPr>
      </p:sp>
      <p:sp>
        <p:nvSpPr>
          <p:cNvPr id="10" name="card7"/>
          <p:cNvSpPr/>
          <p:nvPr/>
        </p:nvSpPr>
        <p:spPr>
          <a:xfrm>
            <a:off x="4663440" y="1234440"/>
            <a:ext cx="3931920" cy="1463040"/>
          </a:xfrm>
          <a:prstGeom prst="rect">
            <a:avLst/>
          </a:prstGeom>
          <a:solidFill>
            <a:srgbClr val="FFFFFF"/>
          </a:solidFill>
          <a:ln w="25400">
            <a:solidFill>
              <a:srgbClr val="000000"/>
            </a:solidFill>
            <a:prstDash val="solid"/>
          </a:ln>
        </p:spPr>
      </p:sp>
      <p:sp>
        <p:nvSpPr>
          <p:cNvPr id="11" name="Text 8"/>
          <p:cNvSpPr txBox="1"/>
          <p:nvPr/>
        </p:nvSpPr>
        <p:spPr>
          <a:xfrm>
            <a:off x="4846320" y="1371600"/>
            <a:ext cx="640080" cy="457200"/>
          </a:xfrm>
          <a:prstGeom prst="rect">
            <a:avLst/>
          </a:prstGeom>
          <a:noFill/>
          <a:ln/>
        </p:spPr>
        <p:txBody>
          <a:bodyPr wrap="square" lIns="0" tIns="0" rIns="0" bIns="0" rtlCol="0" anchor="t"/>
          <a:lstStyle/>
          <a:p>
            <a:pPr indent="0" marL="0">
              <a:buNone/>
            </a:pPr>
            <a:r>
              <a:rPr lang="en-US" sz="2200" b="1" dirty="0">
                <a:solidFill>
                  <a:schemeClr val="tx1"/>
                </a:solidFill>
                <a:latin typeface="Courier New" pitchFamily="34" charset="0"/>
                <a:ea typeface="Courier New" pitchFamily="34" charset="-122"/>
                <a:cs typeface="Courier New" pitchFamily="34" charset="-120"/>
              </a:rPr>
              <a:t>02</a:t>
            </a:r>
            <a:endParaRPr lang="en-US" sz="2200" dirty="0"/>
          </a:p>
        </p:txBody>
      </p:sp>
      <p:sp>
        <p:nvSpPr>
          <p:cNvPr id="12" name="Text 9"/>
          <p:cNvSpPr txBox="1"/>
          <p:nvPr/>
        </p:nvSpPr>
        <p:spPr>
          <a:xfrm>
            <a:off x="5486400" y="1389888"/>
            <a:ext cx="292608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Vague words</a:t>
            </a:r>
            <a:endParaRPr lang="en-US" sz="1800" dirty="0"/>
          </a:p>
        </p:txBody>
      </p:sp>
      <p:sp>
        <p:nvSpPr>
          <p:cNvPr id="13" name="Text 10"/>
          <p:cNvSpPr txBox="1"/>
          <p:nvPr/>
        </p:nvSpPr>
        <p:spPr>
          <a:xfrm>
            <a:off x="5486400" y="1828800"/>
            <a:ext cx="2926080" cy="7772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"Next week", "usual advance", "around 50k" feel clear in chat, useless in a dispute.</a:t>
            </a:r>
            <a:endParaRPr lang="en-US" sz="1400" dirty="0"/>
          </a:p>
        </p:txBody>
      </p:sp>
      <p:sp>
        <p:nvSpPr>
          <p:cNvPr id="14" name="shadow8"/>
          <p:cNvSpPr/>
          <p:nvPr/>
        </p:nvSpPr>
        <p:spPr>
          <a:xfrm>
            <a:off x="512064" y="2980944"/>
            <a:ext cx="3931920" cy="1463040"/>
          </a:xfrm>
          <a:prstGeom prst="rect">
            <a:avLst/>
          </a:prstGeom>
          <a:solidFill>
            <a:srgbClr val="000000"/>
          </a:solidFill>
          <a:ln w="12700">
            <a:solidFill>
              <a:srgbClr val="000000"/>
            </a:solidFill>
            <a:prstDash val="solid"/>
          </a:ln>
        </p:spPr>
      </p:sp>
      <p:sp>
        <p:nvSpPr>
          <p:cNvPr id="15" name="card8"/>
          <p:cNvSpPr/>
          <p:nvPr/>
        </p:nvSpPr>
        <p:spPr>
          <a:xfrm>
            <a:off x="457200" y="2926080"/>
            <a:ext cx="3931920" cy="1463040"/>
          </a:xfrm>
          <a:prstGeom prst="rect">
            <a:avLst/>
          </a:prstGeom>
          <a:solidFill>
            <a:srgbClr val="FFFFFF"/>
          </a:solidFill>
          <a:ln w="25400">
            <a:solidFill>
              <a:srgbClr val="000000"/>
            </a:solidFill>
            <a:prstDash val="solid"/>
          </a:ln>
        </p:spPr>
      </p:sp>
      <p:sp>
        <p:nvSpPr>
          <p:cNvPr id="16" name="Text 13"/>
          <p:cNvSpPr txBox="1"/>
          <p:nvPr/>
        </p:nvSpPr>
        <p:spPr>
          <a:xfrm>
            <a:off x="640080" y="3063240"/>
            <a:ext cx="640080" cy="457200"/>
          </a:xfrm>
          <a:prstGeom prst="rect">
            <a:avLst/>
          </a:prstGeom>
          <a:noFill/>
          <a:ln/>
        </p:spPr>
        <p:txBody>
          <a:bodyPr wrap="square" lIns="0" tIns="0" rIns="0" bIns="0" rtlCol="0" anchor="t"/>
          <a:lstStyle/>
          <a:p>
            <a:pPr indent="0" marL="0">
              <a:buNone/>
            </a:pPr>
            <a:r>
              <a:rPr lang="en-US" sz="2200" b="1" dirty="0">
                <a:solidFill>
                  <a:schemeClr val="tx1"/>
                </a:solidFill>
                <a:latin typeface="Courier New" pitchFamily="34" charset="0"/>
                <a:ea typeface="Courier New" pitchFamily="34" charset="-122"/>
                <a:cs typeface="Courier New" pitchFamily="34" charset="-120"/>
              </a:rPr>
              <a:t>03</a:t>
            </a:r>
            <a:endParaRPr lang="en-US" sz="2200" dirty="0"/>
          </a:p>
        </p:txBody>
      </p:sp>
      <p:sp>
        <p:nvSpPr>
          <p:cNvPr id="17" name="Text 14"/>
          <p:cNvSpPr txBox="1"/>
          <p:nvPr/>
        </p:nvSpPr>
        <p:spPr>
          <a:xfrm>
            <a:off x="1280160" y="3081528"/>
            <a:ext cx="292608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Hard topics skipped</a:t>
            </a:r>
            <a:endParaRPr lang="en-US" sz="1800" dirty="0"/>
          </a:p>
        </p:txBody>
      </p:sp>
      <p:sp>
        <p:nvSpPr>
          <p:cNvPr id="18" name="Text 15"/>
          <p:cNvSpPr txBox="1"/>
          <p:nvPr/>
        </p:nvSpPr>
        <p:spPr>
          <a:xfrm>
            <a:off x="1280160" y="3520440"/>
            <a:ext cx="2926080" cy="7772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Cancellation, late delivery, defects, GST and disagreements never come up.</a:t>
            </a:r>
            <a:endParaRPr lang="en-US" sz="1400" dirty="0"/>
          </a:p>
        </p:txBody>
      </p:sp>
      <p:sp>
        <p:nvSpPr>
          <p:cNvPr id="19" name="shadow9"/>
          <p:cNvSpPr/>
          <p:nvPr/>
        </p:nvSpPr>
        <p:spPr>
          <a:xfrm>
            <a:off x="4718304" y="2980944"/>
            <a:ext cx="3931920" cy="1463040"/>
          </a:xfrm>
          <a:prstGeom prst="rect">
            <a:avLst/>
          </a:prstGeom>
          <a:solidFill>
            <a:srgbClr val="000000"/>
          </a:solidFill>
          <a:ln w="12700">
            <a:solidFill>
              <a:srgbClr val="000000"/>
            </a:solidFill>
            <a:prstDash val="solid"/>
          </a:ln>
        </p:spPr>
      </p:sp>
      <p:sp>
        <p:nvSpPr>
          <p:cNvPr id="20" name="card9"/>
          <p:cNvSpPr/>
          <p:nvPr/>
        </p:nvSpPr>
        <p:spPr>
          <a:xfrm>
            <a:off x="4663440" y="2926080"/>
            <a:ext cx="3931920" cy="1463040"/>
          </a:xfrm>
          <a:prstGeom prst="rect">
            <a:avLst/>
          </a:prstGeom>
          <a:solidFill>
            <a:srgbClr val="FFFFFF"/>
          </a:solidFill>
          <a:ln w="25400">
            <a:solidFill>
              <a:srgbClr val="000000"/>
            </a:solidFill>
            <a:prstDash val="solid"/>
          </a:ln>
        </p:spPr>
      </p:sp>
      <p:sp>
        <p:nvSpPr>
          <p:cNvPr id="21" name="Text 18"/>
          <p:cNvSpPr txBox="1"/>
          <p:nvPr/>
        </p:nvSpPr>
        <p:spPr>
          <a:xfrm>
            <a:off x="4846320" y="3063240"/>
            <a:ext cx="640080" cy="457200"/>
          </a:xfrm>
          <a:prstGeom prst="rect">
            <a:avLst/>
          </a:prstGeom>
          <a:noFill/>
          <a:ln/>
        </p:spPr>
        <p:txBody>
          <a:bodyPr wrap="square" lIns="0" tIns="0" rIns="0" bIns="0" rtlCol="0" anchor="t"/>
          <a:lstStyle/>
          <a:p>
            <a:pPr indent="0" marL="0">
              <a:buNone/>
            </a:pPr>
            <a:r>
              <a:rPr lang="en-US" sz="2200" b="1" dirty="0">
                <a:solidFill>
                  <a:schemeClr val="tx1"/>
                </a:solidFill>
                <a:latin typeface="Courier New" pitchFamily="34" charset="0"/>
                <a:ea typeface="Courier New" pitchFamily="34" charset="-122"/>
                <a:cs typeface="Courier New" pitchFamily="34" charset="-120"/>
              </a:rPr>
              <a:t>04</a:t>
            </a:r>
            <a:endParaRPr lang="en-US" sz="2200" dirty="0"/>
          </a:p>
        </p:txBody>
      </p:sp>
      <p:sp>
        <p:nvSpPr>
          <p:cNvPr id="22" name="Text 19"/>
          <p:cNvSpPr txBox="1"/>
          <p:nvPr/>
        </p:nvSpPr>
        <p:spPr>
          <a:xfrm>
            <a:off x="5486400" y="3081528"/>
            <a:ext cx="292608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One-sided proof</a:t>
            </a:r>
            <a:endParaRPr lang="en-US" sz="1800" dirty="0"/>
          </a:p>
        </p:txBody>
      </p:sp>
      <p:sp>
        <p:nvSpPr>
          <p:cNvPr id="23" name="Text 20"/>
          <p:cNvSpPr txBox="1"/>
          <p:nvPr/>
        </p:nvSpPr>
        <p:spPr>
          <a:xfrm>
            <a:off x="5486400" y="3520440"/>
            <a:ext cx="2926080" cy="7772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A chat can be edited or deleted, and the other person never confirmed the same version.</a:t>
            </a:r>
            <a:endParaRPr lang="en-US" sz="14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Read it. Then both sides check it.</a:t>
            </a:r>
            <a:endParaRPr lang="en-US" sz="3000" dirty="0"/>
          </a:p>
        </p:txBody>
      </p:sp>
      <p:sp>
        <p:nvSpPr>
          <p:cNvPr id="4" name="shadow10"/>
          <p:cNvSpPr/>
          <p:nvPr/>
        </p:nvSpPr>
        <p:spPr>
          <a:xfrm>
            <a:off x="512064" y="1335024"/>
            <a:ext cx="2560320" cy="1463040"/>
          </a:xfrm>
          <a:prstGeom prst="rect">
            <a:avLst/>
          </a:prstGeom>
          <a:solidFill>
            <a:srgbClr val="000000"/>
          </a:solidFill>
          <a:ln w="12700">
            <a:solidFill>
              <a:srgbClr val="000000"/>
            </a:solidFill>
            <a:prstDash val="solid"/>
          </a:ln>
        </p:spPr>
      </p:sp>
      <p:sp>
        <p:nvSpPr>
          <p:cNvPr id="5" name="card10"/>
          <p:cNvSpPr/>
          <p:nvPr/>
        </p:nvSpPr>
        <p:spPr>
          <a:xfrm>
            <a:off x="457200" y="1280160"/>
            <a:ext cx="2560320" cy="1463040"/>
          </a:xfrm>
          <a:prstGeom prst="rect">
            <a:avLst/>
          </a:prstGeom>
          <a:solidFill>
            <a:srgbClr val="FFFFFF"/>
          </a:solidFill>
          <a:ln w="25400">
            <a:solidFill>
              <a:srgbClr val="000000"/>
            </a:solidFill>
            <a:prstDash val="solid"/>
          </a:ln>
        </p:spPr>
      </p:sp>
      <p:sp>
        <p:nvSpPr>
          <p:cNvPr id="6" name="Text 3"/>
          <p:cNvSpPr txBox="1"/>
          <p:nvPr/>
        </p:nvSpPr>
        <p:spPr>
          <a:xfrm>
            <a:off x="640080" y="1417320"/>
            <a:ext cx="548640" cy="548640"/>
          </a:xfrm>
          <a:prstGeom prst="rect">
            <a:avLst/>
          </a:prstGeom>
          <a:noFill/>
          <a:ln/>
        </p:spPr>
        <p:txBody>
          <a:bodyPr wrap="square" lIns="0" tIns="0" rIns="0" bIns="0" rtlCol="0" anchor="t"/>
          <a:lstStyle/>
          <a:p>
            <a:pPr indent="0" marL="0">
              <a:buNone/>
            </a:pPr>
            <a:r>
              <a:rPr lang="en-US" sz="3000" b="1" dirty="0">
                <a:solidFill>
                  <a:srgbClr val="000000"/>
                </a:solidFill>
                <a:latin typeface="Courier New" pitchFamily="34" charset="0"/>
                <a:ea typeface="Courier New" pitchFamily="34" charset="-122"/>
                <a:cs typeface="Courier New" pitchFamily="34" charset="-120"/>
              </a:rPr>
              <a:t>1</a:t>
            </a:r>
            <a:endParaRPr lang="en-US" sz="3000" dirty="0"/>
          </a:p>
        </p:txBody>
      </p:sp>
      <p:sp>
        <p:nvSpPr>
          <p:cNvPr id="7" name="Text 4"/>
          <p:cNvSpPr txBox="1"/>
          <p:nvPr/>
        </p:nvSpPr>
        <p:spPr>
          <a:xfrm>
            <a:off x="640080" y="2011680"/>
            <a:ext cx="2194560" cy="3200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Add evidence</a:t>
            </a:r>
            <a:endParaRPr lang="en-US" sz="1700" dirty="0"/>
          </a:p>
        </p:txBody>
      </p:sp>
      <p:sp>
        <p:nvSpPr>
          <p:cNvPr id="8" name="Text 5"/>
          <p:cNvSpPr txBox="1"/>
          <p:nvPr/>
        </p:nvSpPr>
        <p:spPr>
          <a:xfrm>
            <a:off x="640080" y="2331720"/>
            <a:ext cx="2194560" cy="36576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Chat, voice notes, screenshots</a:t>
            </a:r>
            <a:endParaRPr lang="en-US" sz="1200" dirty="0"/>
          </a:p>
        </p:txBody>
      </p:sp>
      <p:sp>
        <p:nvSpPr>
          <p:cNvPr id="9" name="shadow11"/>
          <p:cNvSpPr/>
          <p:nvPr/>
        </p:nvSpPr>
        <p:spPr>
          <a:xfrm>
            <a:off x="3319272" y="1335024"/>
            <a:ext cx="2560320" cy="1463040"/>
          </a:xfrm>
          <a:prstGeom prst="rect">
            <a:avLst/>
          </a:prstGeom>
          <a:solidFill>
            <a:srgbClr val="000000"/>
          </a:solidFill>
          <a:ln w="12700">
            <a:solidFill>
              <a:srgbClr val="000000"/>
            </a:solidFill>
            <a:prstDash val="solid"/>
          </a:ln>
        </p:spPr>
      </p:sp>
      <p:sp>
        <p:nvSpPr>
          <p:cNvPr id="10" name="card11"/>
          <p:cNvSpPr/>
          <p:nvPr/>
        </p:nvSpPr>
        <p:spPr>
          <a:xfrm>
            <a:off x="3264408" y="1280160"/>
            <a:ext cx="2560320" cy="1463040"/>
          </a:xfrm>
          <a:prstGeom prst="rect">
            <a:avLst/>
          </a:prstGeom>
          <a:solidFill>
            <a:srgbClr val="FFFFFF"/>
          </a:solidFill>
          <a:ln w="25400">
            <a:solidFill>
              <a:srgbClr val="000000"/>
            </a:solidFill>
            <a:prstDash val="solid"/>
          </a:ln>
        </p:spPr>
      </p:sp>
      <p:sp>
        <p:nvSpPr>
          <p:cNvPr id="11" name="Text 8"/>
          <p:cNvSpPr txBox="1"/>
          <p:nvPr/>
        </p:nvSpPr>
        <p:spPr>
          <a:xfrm>
            <a:off x="3447288" y="1417320"/>
            <a:ext cx="548640" cy="548640"/>
          </a:xfrm>
          <a:prstGeom prst="rect">
            <a:avLst/>
          </a:prstGeom>
          <a:noFill/>
          <a:ln/>
        </p:spPr>
        <p:txBody>
          <a:bodyPr wrap="square" lIns="0" tIns="0" rIns="0" bIns="0" rtlCol="0" anchor="t"/>
          <a:lstStyle/>
          <a:p>
            <a:pPr indent="0" marL="0">
              <a:buNone/>
            </a:pPr>
            <a:r>
              <a:rPr lang="en-US" sz="3000" b="1" dirty="0">
                <a:solidFill>
                  <a:srgbClr val="000000"/>
                </a:solidFill>
                <a:latin typeface="Courier New" pitchFamily="34" charset="0"/>
                <a:ea typeface="Courier New" pitchFamily="34" charset="-122"/>
                <a:cs typeface="Courier New" pitchFamily="34" charset="-120"/>
              </a:rPr>
              <a:t>2</a:t>
            </a:r>
            <a:endParaRPr lang="en-US" sz="3000" dirty="0"/>
          </a:p>
        </p:txBody>
      </p:sp>
      <p:sp>
        <p:nvSpPr>
          <p:cNvPr id="12" name="Text 9"/>
          <p:cNvSpPr txBox="1"/>
          <p:nvPr/>
        </p:nvSpPr>
        <p:spPr>
          <a:xfrm>
            <a:off x="3447288" y="2011680"/>
            <a:ext cx="2194560" cy="3200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Read terms</a:t>
            </a:r>
            <a:endParaRPr lang="en-US" sz="1700" dirty="0"/>
          </a:p>
        </p:txBody>
      </p:sp>
      <p:sp>
        <p:nvSpPr>
          <p:cNvPr id="13" name="Text 10"/>
          <p:cNvSpPr txBox="1"/>
          <p:nvPr/>
        </p:nvSpPr>
        <p:spPr>
          <a:xfrm>
            <a:off x="3447288" y="2331720"/>
            <a:ext cx="2194560" cy="36576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Price, delivery, payment, GST</a:t>
            </a:r>
            <a:endParaRPr lang="en-US" sz="1200" dirty="0"/>
          </a:p>
        </p:txBody>
      </p:sp>
      <p:sp>
        <p:nvSpPr>
          <p:cNvPr id="14" name="shadow12"/>
          <p:cNvSpPr/>
          <p:nvPr/>
        </p:nvSpPr>
        <p:spPr>
          <a:xfrm>
            <a:off x="6126480" y="1335024"/>
            <a:ext cx="2560320" cy="1463040"/>
          </a:xfrm>
          <a:prstGeom prst="rect">
            <a:avLst/>
          </a:prstGeom>
          <a:solidFill>
            <a:srgbClr val="000000"/>
          </a:solidFill>
          <a:ln w="12700">
            <a:solidFill>
              <a:srgbClr val="000000"/>
            </a:solidFill>
            <a:prstDash val="solid"/>
          </a:ln>
        </p:spPr>
      </p:sp>
      <p:sp>
        <p:nvSpPr>
          <p:cNvPr id="15" name="card12"/>
          <p:cNvSpPr/>
          <p:nvPr/>
        </p:nvSpPr>
        <p:spPr>
          <a:xfrm>
            <a:off x="6071616" y="1280160"/>
            <a:ext cx="2560320" cy="1463040"/>
          </a:xfrm>
          <a:prstGeom prst="rect">
            <a:avLst/>
          </a:prstGeom>
          <a:solidFill>
            <a:srgbClr val="FFFFFF"/>
          </a:solidFill>
          <a:ln w="25400">
            <a:solidFill>
              <a:srgbClr val="000000"/>
            </a:solidFill>
            <a:prstDash val="solid"/>
          </a:ln>
        </p:spPr>
      </p:sp>
      <p:sp>
        <p:nvSpPr>
          <p:cNvPr id="16" name="Text 13"/>
          <p:cNvSpPr txBox="1"/>
          <p:nvPr/>
        </p:nvSpPr>
        <p:spPr>
          <a:xfrm>
            <a:off x="6254496" y="1417320"/>
            <a:ext cx="548640" cy="548640"/>
          </a:xfrm>
          <a:prstGeom prst="rect">
            <a:avLst/>
          </a:prstGeom>
          <a:noFill/>
          <a:ln/>
        </p:spPr>
        <p:txBody>
          <a:bodyPr wrap="square" lIns="0" tIns="0" rIns="0" bIns="0" rtlCol="0" anchor="t"/>
          <a:lstStyle/>
          <a:p>
            <a:pPr indent="0" marL="0">
              <a:buNone/>
            </a:pPr>
            <a:r>
              <a:rPr lang="en-US" sz="3000" b="1" dirty="0">
                <a:solidFill>
                  <a:srgbClr val="000000"/>
                </a:solidFill>
                <a:latin typeface="Courier New" pitchFamily="34" charset="0"/>
                <a:ea typeface="Courier New" pitchFamily="34" charset="-122"/>
                <a:cs typeface="Courier New" pitchFamily="34" charset="-120"/>
              </a:rPr>
              <a:t>3</a:t>
            </a:r>
            <a:endParaRPr lang="en-US" sz="3000" dirty="0"/>
          </a:p>
        </p:txBody>
      </p:sp>
      <p:sp>
        <p:nvSpPr>
          <p:cNvPr id="17" name="Text 14"/>
          <p:cNvSpPr txBox="1"/>
          <p:nvPr/>
        </p:nvSpPr>
        <p:spPr>
          <a:xfrm>
            <a:off x="6254496" y="2011680"/>
            <a:ext cx="2194560" cy="3200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Settle gaps</a:t>
            </a:r>
            <a:endParaRPr lang="en-US" sz="1700" dirty="0"/>
          </a:p>
        </p:txBody>
      </p:sp>
      <p:sp>
        <p:nvSpPr>
          <p:cNvPr id="18" name="Text 15"/>
          <p:cNvSpPr txBox="1"/>
          <p:nvPr/>
        </p:nvSpPr>
        <p:spPr>
          <a:xfrm>
            <a:off x="6254496" y="2331720"/>
            <a:ext cx="2194560" cy="36576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Vague and missing, with nudges</a:t>
            </a:r>
            <a:endParaRPr lang="en-US" sz="1200" dirty="0"/>
          </a:p>
        </p:txBody>
      </p:sp>
      <p:sp>
        <p:nvSpPr>
          <p:cNvPr id="19" name="shadow13"/>
          <p:cNvSpPr/>
          <p:nvPr/>
        </p:nvSpPr>
        <p:spPr>
          <a:xfrm>
            <a:off x="512064" y="3026664"/>
            <a:ext cx="2560320" cy="1463040"/>
          </a:xfrm>
          <a:prstGeom prst="rect">
            <a:avLst/>
          </a:prstGeom>
          <a:solidFill>
            <a:srgbClr val="000000"/>
          </a:solidFill>
          <a:ln w="12700">
            <a:solidFill>
              <a:srgbClr val="000000"/>
            </a:solidFill>
            <a:prstDash val="solid"/>
          </a:ln>
        </p:spPr>
      </p:sp>
      <p:sp>
        <p:nvSpPr>
          <p:cNvPr id="20" name="card13"/>
          <p:cNvSpPr/>
          <p:nvPr/>
        </p:nvSpPr>
        <p:spPr>
          <a:xfrm>
            <a:off x="457200" y="2971800"/>
            <a:ext cx="2560320" cy="1463040"/>
          </a:xfrm>
          <a:prstGeom prst="rect">
            <a:avLst/>
          </a:prstGeom>
          <a:solidFill>
            <a:srgbClr val="FFFFFF"/>
          </a:solidFill>
          <a:ln w="25400">
            <a:solidFill>
              <a:srgbClr val="000000"/>
            </a:solidFill>
            <a:prstDash val="solid"/>
          </a:ln>
        </p:spPr>
      </p:sp>
      <p:sp>
        <p:nvSpPr>
          <p:cNvPr id="21" name="Text 18"/>
          <p:cNvSpPr txBox="1"/>
          <p:nvPr/>
        </p:nvSpPr>
        <p:spPr>
          <a:xfrm>
            <a:off x="640080" y="3108960"/>
            <a:ext cx="548640" cy="548640"/>
          </a:xfrm>
          <a:prstGeom prst="rect">
            <a:avLst/>
          </a:prstGeom>
          <a:noFill/>
          <a:ln/>
        </p:spPr>
        <p:txBody>
          <a:bodyPr wrap="square" lIns="0" tIns="0" rIns="0" bIns="0" rtlCol="0" anchor="t"/>
          <a:lstStyle/>
          <a:p>
            <a:pPr indent="0" marL="0">
              <a:buNone/>
            </a:pPr>
            <a:r>
              <a:rPr lang="en-US" sz="3000" b="1" dirty="0">
                <a:solidFill>
                  <a:srgbClr val="000000"/>
                </a:solidFill>
                <a:latin typeface="Courier New" pitchFamily="34" charset="0"/>
                <a:ea typeface="Courier New" pitchFamily="34" charset="-122"/>
                <a:cs typeface="Courier New" pitchFamily="34" charset="-120"/>
              </a:rPr>
              <a:t>4</a:t>
            </a:r>
            <a:endParaRPr lang="en-US" sz="3000" dirty="0"/>
          </a:p>
        </p:txBody>
      </p:sp>
      <p:sp>
        <p:nvSpPr>
          <p:cNvPr id="22" name="Text 19"/>
          <p:cNvSpPr txBox="1"/>
          <p:nvPr/>
        </p:nvSpPr>
        <p:spPr>
          <a:xfrm>
            <a:off x="640080" y="3703320"/>
            <a:ext cx="2194560" cy="3200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Send</a:t>
            </a:r>
            <a:endParaRPr lang="en-US" sz="1700" dirty="0"/>
          </a:p>
        </p:txBody>
      </p:sp>
      <p:sp>
        <p:nvSpPr>
          <p:cNvPr id="23" name="Text 20"/>
          <p:cNvSpPr txBox="1"/>
          <p:nvPr/>
        </p:nvSpPr>
        <p:spPr>
          <a:xfrm>
            <a:off x="640080" y="4023360"/>
            <a:ext cx="2194560" cy="36576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Private invite link</a:t>
            </a:r>
            <a:endParaRPr lang="en-US" sz="1200" dirty="0"/>
          </a:p>
        </p:txBody>
      </p:sp>
      <p:sp>
        <p:nvSpPr>
          <p:cNvPr id="24" name="shadow14"/>
          <p:cNvSpPr/>
          <p:nvPr/>
        </p:nvSpPr>
        <p:spPr>
          <a:xfrm>
            <a:off x="3319272" y="3026664"/>
            <a:ext cx="2560320" cy="1463040"/>
          </a:xfrm>
          <a:prstGeom prst="rect">
            <a:avLst/>
          </a:prstGeom>
          <a:solidFill>
            <a:srgbClr val="000000"/>
          </a:solidFill>
          <a:ln w="12700">
            <a:solidFill>
              <a:srgbClr val="000000"/>
            </a:solidFill>
            <a:prstDash val="solid"/>
          </a:ln>
        </p:spPr>
      </p:sp>
      <p:sp>
        <p:nvSpPr>
          <p:cNvPr id="25" name="card14"/>
          <p:cNvSpPr/>
          <p:nvPr/>
        </p:nvSpPr>
        <p:spPr>
          <a:xfrm>
            <a:off x="3264408" y="2971800"/>
            <a:ext cx="2560320" cy="1463040"/>
          </a:xfrm>
          <a:prstGeom prst="rect">
            <a:avLst/>
          </a:prstGeom>
          <a:solidFill>
            <a:srgbClr val="000000"/>
          </a:solidFill>
          <a:ln w="25400">
            <a:solidFill>
              <a:srgbClr val="000000"/>
            </a:solidFill>
            <a:prstDash val="solid"/>
          </a:ln>
        </p:spPr>
      </p:sp>
      <p:sp>
        <p:nvSpPr>
          <p:cNvPr id="26" name="Text 23"/>
          <p:cNvSpPr txBox="1"/>
          <p:nvPr/>
        </p:nvSpPr>
        <p:spPr>
          <a:xfrm>
            <a:off x="3447288" y="3108960"/>
            <a:ext cx="548640" cy="548640"/>
          </a:xfrm>
          <a:prstGeom prst="rect">
            <a:avLst/>
          </a:prstGeom>
          <a:noFill/>
          <a:ln/>
        </p:spPr>
        <p:txBody>
          <a:bodyPr wrap="square" lIns="0" tIns="0" rIns="0" bIns="0" rtlCol="0" anchor="t"/>
          <a:lstStyle/>
          <a:p>
            <a:pPr indent="0" marL="0">
              <a:buNone/>
            </a:pPr>
            <a:r>
              <a:rPr lang="en-US" sz="3000" b="1" dirty="0">
                <a:solidFill>
                  <a:srgbClr val="FFFFFF"/>
                </a:solidFill>
                <a:latin typeface="Courier New" pitchFamily="34" charset="0"/>
                <a:ea typeface="Courier New" pitchFamily="34" charset="-122"/>
                <a:cs typeface="Courier New" pitchFamily="34" charset="-120"/>
              </a:rPr>
              <a:t>5</a:t>
            </a:r>
            <a:endParaRPr lang="en-US" sz="3000" dirty="0"/>
          </a:p>
        </p:txBody>
      </p:sp>
      <p:sp>
        <p:nvSpPr>
          <p:cNvPr id="27" name="Text 24"/>
          <p:cNvSpPr txBox="1"/>
          <p:nvPr/>
        </p:nvSpPr>
        <p:spPr>
          <a:xfrm>
            <a:off x="3447288" y="3703320"/>
            <a:ext cx="2194560" cy="3200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Customer checks</a:t>
            </a:r>
            <a:endParaRPr lang="en-US" sz="1700" dirty="0"/>
          </a:p>
        </p:txBody>
      </p:sp>
      <p:sp>
        <p:nvSpPr>
          <p:cNvPr id="28" name="Text 25"/>
          <p:cNvSpPr txBox="1"/>
          <p:nvPr/>
        </p:nvSpPr>
        <p:spPr>
          <a:xfrm>
            <a:off x="3447288" y="4023360"/>
            <a:ext cx="219456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Each term vs the messages</a:t>
            </a:r>
            <a:endParaRPr lang="en-US" sz="1200" dirty="0"/>
          </a:p>
        </p:txBody>
      </p:sp>
      <p:sp>
        <p:nvSpPr>
          <p:cNvPr id="29" name="shadow15"/>
          <p:cNvSpPr/>
          <p:nvPr/>
        </p:nvSpPr>
        <p:spPr>
          <a:xfrm>
            <a:off x="6126480" y="3026664"/>
            <a:ext cx="2560320" cy="1463040"/>
          </a:xfrm>
          <a:prstGeom prst="rect">
            <a:avLst/>
          </a:prstGeom>
          <a:solidFill>
            <a:srgbClr val="000000"/>
          </a:solidFill>
          <a:ln w="12700">
            <a:solidFill>
              <a:srgbClr val="000000"/>
            </a:solidFill>
            <a:prstDash val="solid"/>
          </a:ln>
        </p:spPr>
      </p:sp>
      <p:sp>
        <p:nvSpPr>
          <p:cNvPr id="30" name="card15"/>
          <p:cNvSpPr/>
          <p:nvPr/>
        </p:nvSpPr>
        <p:spPr>
          <a:xfrm>
            <a:off x="6071616" y="2971800"/>
            <a:ext cx="2560320" cy="1463040"/>
          </a:xfrm>
          <a:prstGeom prst="rect">
            <a:avLst/>
          </a:prstGeom>
          <a:solidFill>
            <a:srgbClr val="FFFFFF"/>
          </a:solidFill>
          <a:ln w="25400">
            <a:solidFill>
              <a:srgbClr val="000000"/>
            </a:solidFill>
            <a:prstDash val="solid"/>
          </a:ln>
        </p:spPr>
      </p:sp>
      <p:sp>
        <p:nvSpPr>
          <p:cNvPr id="31" name="Text 28"/>
          <p:cNvSpPr txBox="1"/>
          <p:nvPr/>
        </p:nvSpPr>
        <p:spPr>
          <a:xfrm>
            <a:off x="6254496" y="3108960"/>
            <a:ext cx="548640" cy="548640"/>
          </a:xfrm>
          <a:prstGeom prst="rect">
            <a:avLst/>
          </a:prstGeom>
          <a:noFill/>
          <a:ln/>
        </p:spPr>
        <p:txBody>
          <a:bodyPr wrap="square" lIns="0" tIns="0" rIns="0" bIns="0" rtlCol="0" anchor="t"/>
          <a:lstStyle/>
          <a:p>
            <a:pPr indent="0" marL="0">
              <a:buNone/>
            </a:pPr>
            <a:r>
              <a:rPr lang="en-US" sz="3000" b="1" dirty="0">
                <a:solidFill>
                  <a:srgbClr val="000000"/>
                </a:solidFill>
                <a:latin typeface="Courier New" pitchFamily="34" charset="0"/>
                <a:ea typeface="Courier New" pitchFamily="34" charset="-122"/>
                <a:cs typeface="Courier New" pitchFamily="34" charset="-120"/>
              </a:rPr>
              <a:t>6</a:t>
            </a:r>
            <a:endParaRPr lang="en-US" sz="3000" dirty="0"/>
          </a:p>
        </p:txBody>
      </p:sp>
      <p:sp>
        <p:nvSpPr>
          <p:cNvPr id="32" name="Text 29"/>
          <p:cNvSpPr txBox="1"/>
          <p:nvPr/>
        </p:nvSpPr>
        <p:spPr>
          <a:xfrm>
            <a:off x="6254496" y="3703320"/>
            <a:ext cx="2194560" cy="3200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Keep proof</a:t>
            </a:r>
            <a:endParaRPr lang="en-US" sz="1700" dirty="0"/>
          </a:p>
        </p:txBody>
      </p:sp>
      <p:sp>
        <p:nvSpPr>
          <p:cNvPr id="33" name="Text 30"/>
          <p:cNvSpPr txBox="1"/>
          <p:nvPr/>
        </p:nvSpPr>
        <p:spPr>
          <a:xfrm>
            <a:off x="6254496" y="4023360"/>
            <a:ext cx="2194560" cy="36576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Hash chain and PDFs</a:t>
            </a:r>
            <a:endParaRPr lang="en-US" sz="12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See it work on a real Hinglish chat</a:t>
            </a:r>
            <a:endParaRPr lang="en-US" sz="3000" dirty="0"/>
          </a:p>
        </p:txBody>
      </p:sp>
      <p:pic>
        <p:nvPicPr>
          <p:cNvPr id="4" name="demo-screenshot" descr="/tmp/rep/deck/demo.png">    </p:cNvPr>
          <p:cNvPicPr>
            <a:picLocks noChangeAspect="1"/>
          </p:cNvPicPr>
          <p:nvPr/>
        </p:nvPicPr>
        <p:blipFill>
          <a:blip r:embed="rId1"/>
          <a:stretch>
            <a:fillRect/>
          </a:stretch>
        </p:blipFill>
        <p:spPr>
          <a:xfrm>
            <a:off x="502920" y="1051560"/>
            <a:ext cx="1828800" cy="3525352"/>
          </a:xfrm>
          <a:prstGeom prst="rect">
            <a:avLst/>
          </a:prstGeom>
        </p:spPr>
      </p:pic>
      <p:sp>
        <p:nvSpPr>
          <p:cNvPr id="5" name="demo-frame"/>
          <p:cNvSpPr/>
          <p:nvPr/>
        </p:nvSpPr>
        <p:spPr>
          <a:xfrm>
            <a:off x="457200" y="1005840"/>
            <a:ext cx="1920240" cy="3616792"/>
          </a:xfrm>
          <a:prstGeom prst="rect">
            <a:avLst/>
          </a:prstGeom>
          <a:solidFill>
            <a:srgbClr val="FFFFFF">
              <a:alpha val="0"/>
            </a:srgbClr>
          </a:solidFill>
          <a:ln w="28575">
            <a:solidFill>
              <a:srgbClr val="000000"/>
            </a:solidFill>
            <a:prstDash val="solid"/>
          </a:ln>
        </p:spPr>
      </p:sp>
      <p:sp>
        <p:nvSpPr>
          <p:cNvPr id="6" name="shadow16"/>
          <p:cNvSpPr/>
          <p:nvPr/>
        </p:nvSpPr>
        <p:spPr>
          <a:xfrm>
            <a:off x="2889504" y="1106424"/>
            <a:ext cx="5852160" cy="749808"/>
          </a:xfrm>
          <a:prstGeom prst="rect">
            <a:avLst/>
          </a:prstGeom>
          <a:solidFill>
            <a:srgbClr val="000000"/>
          </a:solidFill>
          <a:ln w="12700">
            <a:solidFill>
              <a:srgbClr val="000000"/>
            </a:solidFill>
            <a:prstDash val="solid"/>
          </a:ln>
        </p:spPr>
      </p:sp>
      <p:sp>
        <p:nvSpPr>
          <p:cNvPr id="7" name="card16"/>
          <p:cNvSpPr/>
          <p:nvPr/>
        </p:nvSpPr>
        <p:spPr>
          <a:xfrm>
            <a:off x="2834640" y="1051560"/>
            <a:ext cx="5852160" cy="749808"/>
          </a:xfrm>
          <a:prstGeom prst="rect">
            <a:avLst/>
          </a:prstGeom>
          <a:solidFill>
            <a:srgbClr val="FFFFFF"/>
          </a:solidFill>
          <a:ln w="25400">
            <a:solidFill>
              <a:srgbClr val="000000"/>
            </a:solidFill>
            <a:prstDash val="solid"/>
          </a:ln>
        </p:spPr>
      </p:sp>
      <p:sp>
        <p:nvSpPr>
          <p:cNvPr id="8" name="Text 4"/>
          <p:cNvSpPr txBox="1"/>
          <p:nvPr/>
        </p:nvSpPr>
        <p:spPr>
          <a:xfrm>
            <a:off x="3017520" y="1143000"/>
            <a:ext cx="2103120" cy="56692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₹54,000 + GST</a:t>
            </a:r>
            <a:endParaRPr lang="en-US" sz="1600" dirty="0"/>
          </a:p>
        </p:txBody>
      </p:sp>
      <p:sp>
        <p:nvSpPr>
          <p:cNvPr id="9" name="Text 5"/>
          <p:cNvSpPr txBox="1"/>
          <p:nvPr/>
        </p:nvSpPr>
        <p:spPr>
          <a:xfrm>
            <a:off x="5120640" y="1143000"/>
            <a:ext cx="342900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Final price for 600 cards, not the last number it saw.</a:t>
            </a:r>
            <a:endParaRPr lang="en-US" sz="1300" dirty="0"/>
          </a:p>
        </p:txBody>
      </p:sp>
      <p:sp>
        <p:nvSpPr>
          <p:cNvPr id="10" name="shadow17"/>
          <p:cNvSpPr/>
          <p:nvPr/>
        </p:nvSpPr>
        <p:spPr>
          <a:xfrm>
            <a:off x="2889504" y="2002536"/>
            <a:ext cx="5852160" cy="749808"/>
          </a:xfrm>
          <a:prstGeom prst="rect">
            <a:avLst/>
          </a:prstGeom>
          <a:solidFill>
            <a:srgbClr val="000000"/>
          </a:solidFill>
          <a:ln w="12700">
            <a:solidFill>
              <a:srgbClr val="000000"/>
            </a:solidFill>
            <a:prstDash val="solid"/>
          </a:ln>
        </p:spPr>
      </p:sp>
      <p:sp>
        <p:nvSpPr>
          <p:cNvPr id="11" name="card17"/>
          <p:cNvSpPr/>
          <p:nvPr/>
        </p:nvSpPr>
        <p:spPr>
          <a:xfrm>
            <a:off x="2834640" y="1947672"/>
            <a:ext cx="5852160" cy="749808"/>
          </a:xfrm>
          <a:prstGeom prst="rect">
            <a:avLst/>
          </a:prstGeom>
          <a:solidFill>
            <a:srgbClr val="FFFFFF"/>
          </a:solidFill>
          <a:ln w="25400">
            <a:solidFill>
              <a:srgbClr val="000000"/>
            </a:solidFill>
            <a:prstDash val="solid"/>
          </a:ln>
        </p:spPr>
      </p:sp>
      <p:sp>
        <p:nvSpPr>
          <p:cNvPr id="12" name="Text 8"/>
          <p:cNvSpPr txBox="1"/>
          <p:nvPr/>
        </p:nvSpPr>
        <p:spPr>
          <a:xfrm>
            <a:off x="3017520" y="2039112"/>
            <a:ext cx="2103120" cy="56692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Why it changed</a:t>
            </a:r>
            <a:endParaRPr lang="en-US" sz="1600" dirty="0"/>
          </a:p>
        </p:txBody>
      </p:sp>
      <p:sp>
        <p:nvSpPr>
          <p:cNvPr id="13" name="Text 9"/>
          <p:cNvSpPr txBox="1"/>
          <p:nvPr/>
        </p:nvSpPr>
        <p:spPr>
          <a:xfrm>
            <a:off x="5120640" y="2039112"/>
            <a:ext cx="342900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Order moved from 500 to 600, so the price moved.</a:t>
            </a:r>
            <a:endParaRPr lang="en-US" sz="1300" dirty="0"/>
          </a:p>
        </p:txBody>
      </p:sp>
      <p:sp>
        <p:nvSpPr>
          <p:cNvPr id="14" name="shadow18"/>
          <p:cNvSpPr/>
          <p:nvPr/>
        </p:nvSpPr>
        <p:spPr>
          <a:xfrm>
            <a:off x="2889504" y="2898648"/>
            <a:ext cx="5852160" cy="749808"/>
          </a:xfrm>
          <a:prstGeom prst="rect">
            <a:avLst/>
          </a:prstGeom>
          <a:solidFill>
            <a:srgbClr val="000000"/>
          </a:solidFill>
          <a:ln w="12700">
            <a:solidFill>
              <a:srgbClr val="000000"/>
            </a:solidFill>
            <a:prstDash val="solid"/>
          </a:ln>
        </p:spPr>
      </p:sp>
      <p:sp>
        <p:nvSpPr>
          <p:cNvPr id="15" name="card18"/>
          <p:cNvSpPr/>
          <p:nvPr/>
        </p:nvSpPr>
        <p:spPr>
          <a:xfrm>
            <a:off x="2834640" y="2843784"/>
            <a:ext cx="5852160" cy="749808"/>
          </a:xfrm>
          <a:prstGeom prst="rect">
            <a:avLst/>
          </a:prstGeom>
          <a:solidFill>
            <a:srgbClr val="FFFFFF"/>
          </a:solidFill>
          <a:ln w="25400">
            <a:solidFill>
              <a:srgbClr val="000000"/>
            </a:solidFill>
            <a:prstDash val="solid"/>
          </a:ln>
        </p:spPr>
      </p:sp>
      <p:sp>
        <p:nvSpPr>
          <p:cNvPr id="16" name="Text 12"/>
          <p:cNvSpPr txBox="1"/>
          <p:nvPr/>
        </p:nvSpPr>
        <p:spPr>
          <a:xfrm>
            <a:off x="3017520" y="2935224"/>
            <a:ext cx="2103120" cy="56692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Every term sourced</a:t>
            </a:r>
            <a:endParaRPr lang="en-US" sz="1600" dirty="0"/>
          </a:p>
        </p:txBody>
      </p:sp>
      <p:sp>
        <p:nvSpPr>
          <p:cNvPr id="17" name="Text 13"/>
          <p:cNvSpPr txBox="1"/>
          <p:nvPr/>
        </p:nvSpPr>
        <p:spPr>
          <a:xfrm>
            <a:off x="5120640" y="2935224"/>
            <a:ext cx="342900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Tap through to the exact message.</a:t>
            </a:r>
            <a:endParaRPr lang="en-US" sz="1300" dirty="0"/>
          </a:p>
        </p:txBody>
      </p:sp>
      <p:sp>
        <p:nvSpPr>
          <p:cNvPr id="18" name="shadow19"/>
          <p:cNvSpPr/>
          <p:nvPr/>
        </p:nvSpPr>
        <p:spPr>
          <a:xfrm>
            <a:off x="2889504" y="3794760"/>
            <a:ext cx="5852160" cy="749808"/>
          </a:xfrm>
          <a:prstGeom prst="rect">
            <a:avLst/>
          </a:prstGeom>
          <a:solidFill>
            <a:srgbClr val="000000"/>
          </a:solidFill>
          <a:ln w="12700">
            <a:solidFill>
              <a:srgbClr val="000000"/>
            </a:solidFill>
            <a:prstDash val="solid"/>
          </a:ln>
        </p:spPr>
      </p:sp>
      <p:sp>
        <p:nvSpPr>
          <p:cNvPr id="19" name="card19"/>
          <p:cNvSpPr/>
          <p:nvPr/>
        </p:nvSpPr>
        <p:spPr>
          <a:xfrm>
            <a:off x="2834640" y="3739896"/>
            <a:ext cx="5852160" cy="749808"/>
          </a:xfrm>
          <a:prstGeom prst="rect">
            <a:avLst/>
          </a:prstGeom>
          <a:solidFill>
            <a:srgbClr val="FFFFFF"/>
          </a:solidFill>
          <a:ln w="25400">
            <a:solidFill>
              <a:srgbClr val="000000"/>
            </a:solidFill>
            <a:prstDash val="solid"/>
          </a:ln>
        </p:spPr>
      </p:sp>
      <p:sp>
        <p:nvSpPr>
          <p:cNvPr id="20" name="Text 16"/>
          <p:cNvSpPr txBox="1"/>
          <p:nvPr/>
        </p:nvSpPr>
        <p:spPr>
          <a:xfrm>
            <a:off x="3017520" y="3831336"/>
            <a:ext cx="2103120" cy="56692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What is still open</a:t>
            </a:r>
            <a:endParaRPr lang="en-US" sz="1600" dirty="0"/>
          </a:p>
        </p:txBody>
      </p:sp>
      <p:sp>
        <p:nvSpPr>
          <p:cNvPr id="21" name="Text 17"/>
          <p:cNvSpPr txBox="1"/>
          <p:nvPr/>
        </p:nvSpPr>
        <p:spPr>
          <a:xfrm>
            <a:off x="5120640" y="3831336"/>
            <a:ext cx="342900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Cancellation, late delivery, defects, disputes.</a:t>
            </a:r>
            <a:endParaRPr lang="en-US" sz="13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What makes Accord different</a:t>
            </a:r>
            <a:endParaRPr lang="en-US" sz="3000" dirty="0"/>
          </a:p>
        </p:txBody>
      </p:sp>
      <p:sp>
        <p:nvSpPr>
          <p:cNvPr id="4" name="shadow20"/>
          <p:cNvSpPr/>
          <p:nvPr/>
        </p:nvSpPr>
        <p:spPr>
          <a:xfrm>
            <a:off x="512064" y="1152144"/>
            <a:ext cx="8229600" cy="585216"/>
          </a:xfrm>
          <a:prstGeom prst="rect">
            <a:avLst/>
          </a:prstGeom>
          <a:solidFill>
            <a:srgbClr val="000000"/>
          </a:solidFill>
          <a:ln w="12700">
            <a:solidFill>
              <a:srgbClr val="000000"/>
            </a:solidFill>
            <a:prstDash val="solid"/>
          </a:ln>
        </p:spPr>
      </p:sp>
      <p:sp>
        <p:nvSpPr>
          <p:cNvPr id="5" name="card20"/>
          <p:cNvSpPr/>
          <p:nvPr/>
        </p:nvSpPr>
        <p:spPr>
          <a:xfrm>
            <a:off x="457200" y="1097280"/>
            <a:ext cx="8229600" cy="585216"/>
          </a:xfrm>
          <a:prstGeom prst="rect">
            <a:avLst/>
          </a:prstGeom>
          <a:solidFill>
            <a:srgbClr val="000000"/>
          </a:solidFill>
          <a:ln w="25400">
            <a:solidFill>
              <a:srgbClr val="000000"/>
            </a:solidFill>
            <a:prstDash val="solid"/>
          </a:ln>
        </p:spPr>
      </p:sp>
      <p:sp>
        <p:nvSpPr>
          <p:cNvPr id="6" name="Text 3"/>
          <p:cNvSpPr txBox="1"/>
          <p:nvPr/>
        </p:nvSpPr>
        <p:spPr>
          <a:xfrm>
            <a:off x="640080" y="1143000"/>
            <a:ext cx="3108960" cy="49377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Facts, not just a signature</a:t>
            </a:r>
            <a:endParaRPr lang="en-US" sz="1600" dirty="0"/>
          </a:p>
        </p:txBody>
      </p:sp>
      <p:sp>
        <p:nvSpPr>
          <p:cNvPr id="7" name="Text 4"/>
          <p:cNvSpPr txBox="1"/>
          <p:nvPr/>
        </p:nvSpPr>
        <p:spPr>
          <a:xfrm>
            <a:off x="3840480" y="1143000"/>
            <a:ext cx="4663440" cy="493776"/>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Customer verifies each term before approval; the server enforces it.</a:t>
            </a:r>
            <a:endParaRPr lang="en-US" sz="1300" dirty="0"/>
          </a:p>
        </p:txBody>
      </p:sp>
      <p:sp>
        <p:nvSpPr>
          <p:cNvPr id="8" name="shadow21"/>
          <p:cNvSpPr/>
          <p:nvPr/>
        </p:nvSpPr>
        <p:spPr>
          <a:xfrm>
            <a:off x="512064" y="1865376"/>
            <a:ext cx="8229600" cy="585216"/>
          </a:xfrm>
          <a:prstGeom prst="rect">
            <a:avLst/>
          </a:prstGeom>
          <a:solidFill>
            <a:srgbClr val="000000"/>
          </a:solidFill>
          <a:ln w="12700">
            <a:solidFill>
              <a:srgbClr val="000000"/>
            </a:solidFill>
            <a:prstDash val="solid"/>
          </a:ln>
        </p:spPr>
      </p:sp>
      <p:sp>
        <p:nvSpPr>
          <p:cNvPr id="9" name="card21"/>
          <p:cNvSpPr/>
          <p:nvPr/>
        </p:nvSpPr>
        <p:spPr>
          <a:xfrm>
            <a:off x="457200" y="1810512"/>
            <a:ext cx="8229600" cy="585216"/>
          </a:xfrm>
          <a:prstGeom prst="rect">
            <a:avLst/>
          </a:prstGeom>
          <a:solidFill>
            <a:srgbClr val="FFFFFF"/>
          </a:solidFill>
          <a:ln w="25400">
            <a:solidFill>
              <a:srgbClr val="000000"/>
            </a:solidFill>
            <a:prstDash val="solid"/>
          </a:ln>
        </p:spPr>
      </p:sp>
      <p:sp>
        <p:nvSpPr>
          <p:cNvPr id="10" name="Text 7"/>
          <p:cNvSpPr txBox="1"/>
          <p:nvPr/>
        </p:nvSpPr>
        <p:spPr>
          <a:xfrm>
            <a:off x="640080" y="1856232"/>
            <a:ext cx="3108960" cy="493776"/>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Follows the negotiation</a:t>
            </a:r>
            <a:endParaRPr lang="en-US" sz="1600" dirty="0"/>
          </a:p>
        </p:txBody>
      </p:sp>
      <p:sp>
        <p:nvSpPr>
          <p:cNvPr id="11" name="Text 8"/>
          <p:cNvSpPr txBox="1"/>
          <p:nvPr/>
        </p:nvSpPr>
        <p:spPr>
          <a:xfrm>
            <a:off x="3840480" y="1856232"/>
            <a:ext cx="4663440" cy="493776"/>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 price belongs to a quantity. Old prices stay as history with the reason.</a:t>
            </a:r>
            <a:endParaRPr lang="en-US" sz="1300" dirty="0"/>
          </a:p>
        </p:txBody>
      </p:sp>
      <p:sp>
        <p:nvSpPr>
          <p:cNvPr id="12" name="shadow22"/>
          <p:cNvSpPr/>
          <p:nvPr/>
        </p:nvSpPr>
        <p:spPr>
          <a:xfrm>
            <a:off x="512064" y="2578608"/>
            <a:ext cx="8229600" cy="585216"/>
          </a:xfrm>
          <a:prstGeom prst="rect">
            <a:avLst/>
          </a:prstGeom>
          <a:solidFill>
            <a:srgbClr val="000000"/>
          </a:solidFill>
          <a:ln w="12700">
            <a:solidFill>
              <a:srgbClr val="000000"/>
            </a:solidFill>
            <a:prstDash val="solid"/>
          </a:ln>
        </p:spPr>
      </p:sp>
      <p:sp>
        <p:nvSpPr>
          <p:cNvPr id="13" name="card22"/>
          <p:cNvSpPr/>
          <p:nvPr/>
        </p:nvSpPr>
        <p:spPr>
          <a:xfrm>
            <a:off x="457200" y="2523744"/>
            <a:ext cx="8229600" cy="585216"/>
          </a:xfrm>
          <a:prstGeom prst="rect">
            <a:avLst/>
          </a:prstGeom>
          <a:solidFill>
            <a:srgbClr val="FFFFFF"/>
          </a:solidFill>
          <a:ln w="25400">
            <a:solidFill>
              <a:srgbClr val="000000"/>
            </a:solidFill>
            <a:prstDash val="solid"/>
          </a:ln>
        </p:spPr>
      </p:sp>
      <p:sp>
        <p:nvSpPr>
          <p:cNvPr id="14" name="Text 11"/>
          <p:cNvSpPr txBox="1"/>
          <p:nvPr/>
        </p:nvSpPr>
        <p:spPr>
          <a:xfrm>
            <a:off x="640080" y="2569464"/>
            <a:ext cx="3108960" cy="493776"/>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Finds what is missing</a:t>
            </a:r>
            <a:endParaRPr lang="en-US" sz="1600" dirty="0"/>
          </a:p>
        </p:txBody>
      </p:sp>
      <p:sp>
        <p:nvSpPr>
          <p:cNvPr id="15" name="Text 12"/>
          <p:cNvSpPr txBox="1"/>
          <p:nvPr/>
        </p:nvSpPr>
        <p:spPr>
          <a:xfrm>
            <a:off x="3840480" y="2569464"/>
            <a:ext cx="4663440" cy="493776"/>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Six standard gaps, each with a friendly nudge to send.</a:t>
            </a:r>
            <a:endParaRPr lang="en-US" sz="1300" dirty="0"/>
          </a:p>
        </p:txBody>
      </p:sp>
      <p:sp>
        <p:nvSpPr>
          <p:cNvPr id="16" name="shadow23"/>
          <p:cNvSpPr/>
          <p:nvPr/>
        </p:nvSpPr>
        <p:spPr>
          <a:xfrm>
            <a:off x="512064" y="3291840"/>
            <a:ext cx="8229600" cy="585216"/>
          </a:xfrm>
          <a:prstGeom prst="rect">
            <a:avLst/>
          </a:prstGeom>
          <a:solidFill>
            <a:srgbClr val="000000"/>
          </a:solidFill>
          <a:ln w="12700">
            <a:solidFill>
              <a:srgbClr val="000000"/>
            </a:solidFill>
            <a:prstDash val="solid"/>
          </a:ln>
        </p:spPr>
      </p:sp>
      <p:sp>
        <p:nvSpPr>
          <p:cNvPr id="17" name="card23"/>
          <p:cNvSpPr/>
          <p:nvPr/>
        </p:nvSpPr>
        <p:spPr>
          <a:xfrm>
            <a:off x="457200" y="3236976"/>
            <a:ext cx="8229600" cy="585216"/>
          </a:xfrm>
          <a:prstGeom prst="rect">
            <a:avLst/>
          </a:prstGeom>
          <a:solidFill>
            <a:srgbClr val="FFFFFF"/>
          </a:solidFill>
          <a:ln w="25400">
            <a:solidFill>
              <a:srgbClr val="000000"/>
            </a:solidFill>
            <a:prstDash val="solid"/>
          </a:ln>
        </p:spPr>
      </p:sp>
      <p:sp>
        <p:nvSpPr>
          <p:cNvPr id="18" name="Text 15"/>
          <p:cNvSpPr txBox="1"/>
          <p:nvPr/>
        </p:nvSpPr>
        <p:spPr>
          <a:xfrm>
            <a:off x="640080" y="3282696"/>
            <a:ext cx="3108960" cy="493776"/>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Private by design</a:t>
            </a:r>
            <a:endParaRPr lang="en-US" sz="1600" dirty="0"/>
          </a:p>
        </p:txBody>
      </p:sp>
      <p:sp>
        <p:nvSpPr>
          <p:cNvPr id="19" name="Text 16"/>
          <p:cNvSpPr txBox="1"/>
          <p:nvPr/>
        </p:nvSpPr>
        <p:spPr>
          <a:xfrm>
            <a:off x="3840480" y="3282696"/>
            <a:ext cx="4663440" cy="493776"/>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Customer sees only the messages cited behind each term.</a:t>
            </a:r>
            <a:endParaRPr lang="en-US" sz="1300" dirty="0"/>
          </a:p>
        </p:txBody>
      </p:sp>
      <p:sp>
        <p:nvSpPr>
          <p:cNvPr id="20" name="shadow24"/>
          <p:cNvSpPr/>
          <p:nvPr/>
        </p:nvSpPr>
        <p:spPr>
          <a:xfrm>
            <a:off x="512064" y="4005072"/>
            <a:ext cx="8229600" cy="585216"/>
          </a:xfrm>
          <a:prstGeom prst="rect">
            <a:avLst/>
          </a:prstGeom>
          <a:solidFill>
            <a:srgbClr val="000000"/>
          </a:solidFill>
          <a:ln w="12700">
            <a:solidFill>
              <a:srgbClr val="000000"/>
            </a:solidFill>
            <a:prstDash val="solid"/>
          </a:ln>
        </p:spPr>
      </p:sp>
      <p:sp>
        <p:nvSpPr>
          <p:cNvPr id="21" name="card24"/>
          <p:cNvSpPr/>
          <p:nvPr/>
        </p:nvSpPr>
        <p:spPr>
          <a:xfrm>
            <a:off x="457200" y="3950208"/>
            <a:ext cx="8229600" cy="585216"/>
          </a:xfrm>
          <a:prstGeom prst="rect">
            <a:avLst/>
          </a:prstGeom>
          <a:solidFill>
            <a:srgbClr val="FFFFFF"/>
          </a:solidFill>
          <a:ln w="25400">
            <a:solidFill>
              <a:srgbClr val="000000"/>
            </a:solidFill>
            <a:prstDash val="solid"/>
          </a:ln>
        </p:spPr>
      </p:sp>
      <p:sp>
        <p:nvSpPr>
          <p:cNvPr id="22" name="Text 19"/>
          <p:cNvSpPr txBox="1"/>
          <p:nvPr/>
        </p:nvSpPr>
        <p:spPr>
          <a:xfrm>
            <a:off x="640080" y="3995928"/>
            <a:ext cx="3108960" cy="493776"/>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Models are checked</a:t>
            </a:r>
            <a:endParaRPr lang="en-US" sz="1600" dirty="0"/>
          </a:p>
        </p:txBody>
      </p:sp>
      <p:sp>
        <p:nvSpPr>
          <p:cNvPr id="23" name="Text 20"/>
          <p:cNvSpPr txBox="1"/>
          <p:nvPr/>
        </p:nvSpPr>
        <p:spPr>
          <a:xfrm>
            <a:off x="3840480" y="3995928"/>
            <a:ext cx="4663440" cy="493776"/>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Any AI answer is verified against the chat before it is shown.</a:t>
            </a:r>
            <a:endParaRPr lang="en-US" sz="13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It understands how a deal moves</a:t>
            </a:r>
            <a:endParaRPr lang="en-US" sz="3000" dirty="0"/>
          </a:p>
        </p:txBody>
      </p:sp>
      <p:pic>
        <p:nvPicPr>
          <p:cNvPr id="4" name="terms-screenshot" descr="/tmp/rep/deck/terms.png">    </p:cNvPr>
          <p:cNvPicPr>
            <a:picLocks noChangeAspect="1"/>
          </p:cNvPicPr>
          <p:nvPr/>
        </p:nvPicPr>
        <p:blipFill>
          <a:blip r:embed="rId1"/>
          <a:stretch>
            <a:fillRect/>
          </a:stretch>
        </p:blipFill>
        <p:spPr>
          <a:xfrm>
            <a:off x="5074920" y="1051560"/>
            <a:ext cx="3611880" cy="3186953"/>
          </a:xfrm>
          <a:prstGeom prst="rect">
            <a:avLst/>
          </a:prstGeom>
        </p:spPr>
      </p:pic>
      <p:sp>
        <p:nvSpPr>
          <p:cNvPr id="5" name="terms-frame"/>
          <p:cNvSpPr/>
          <p:nvPr/>
        </p:nvSpPr>
        <p:spPr>
          <a:xfrm>
            <a:off x="5029200" y="1005840"/>
            <a:ext cx="3703320" cy="3278393"/>
          </a:xfrm>
          <a:prstGeom prst="rect">
            <a:avLst/>
          </a:prstGeom>
          <a:solidFill>
            <a:srgbClr val="FFFFFF">
              <a:alpha val="0"/>
            </a:srgbClr>
          </a:solidFill>
          <a:ln w="28575">
            <a:solidFill>
              <a:srgbClr val="000000"/>
            </a:solidFill>
            <a:prstDash val="solid"/>
          </a:ln>
        </p:spPr>
      </p:sp>
      <p:sp>
        <p:nvSpPr>
          <p:cNvPr id="6" name="shadow25"/>
          <p:cNvSpPr/>
          <p:nvPr/>
        </p:nvSpPr>
        <p:spPr>
          <a:xfrm>
            <a:off x="512064" y="1106424"/>
            <a:ext cx="4297680" cy="731520"/>
          </a:xfrm>
          <a:prstGeom prst="rect">
            <a:avLst/>
          </a:prstGeom>
          <a:solidFill>
            <a:srgbClr val="000000"/>
          </a:solidFill>
          <a:ln w="12700">
            <a:solidFill>
              <a:srgbClr val="000000"/>
            </a:solidFill>
            <a:prstDash val="solid"/>
          </a:ln>
        </p:spPr>
      </p:sp>
      <p:sp>
        <p:nvSpPr>
          <p:cNvPr id="7" name="card25"/>
          <p:cNvSpPr/>
          <p:nvPr/>
        </p:nvSpPr>
        <p:spPr>
          <a:xfrm>
            <a:off x="457200" y="1051560"/>
            <a:ext cx="4297680" cy="731520"/>
          </a:xfrm>
          <a:prstGeom prst="rect">
            <a:avLst/>
          </a:prstGeom>
          <a:solidFill>
            <a:srgbClr val="FFFFFF"/>
          </a:solidFill>
          <a:ln w="25400">
            <a:solidFill>
              <a:srgbClr val="000000"/>
            </a:solidFill>
            <a:prstDash val="solid"/>
          </a:ln>
        </p:spPr>
      </p:sp>
      <p:sp>
        <p:nvSpPr>
          <p:cNvPr id="8" name="Text 4"/>
          <p:cNvSpPr txBox="1"/>
          <p:nvPr/>
        </p:nvSpPr>
        <p:spPr>
          <a:xfrm>
            <a:off x="640080" y="1124712"/>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Tag every amount</a:t>
            </a:r>
            <a:endParaRPr lang="en-US" sz="1500" dirty="0"/>
          </a:p>
        </p:txBody>
      </p:sp>
      <p:sp>
        <p:nvSpPr>
          <p:cNvPr id="9" name="Text 5"/>
          <p:cNvSpPr txBox="1"/>
          <p:nvPr/>
        </p:nvSpPr>
        <p:spPr>
          <a:xfrm>
            <a:off x="640080" y="1435608"/>
            <a:ext cx="3931920" cy="27432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price, advance, balance or per-piece rate</a:t>
            </a:r>
            <a:endParaRPr lang="en-US" sz="1200" dirty="0"/>
          </a:p>
        </p:txBody>
      </p:sp>
      <p:sp>
        <p:nvSpPr>
          <p:cNvPr id="10" name="shadow26"/>
          <p:cNvSpPr/>
          <p:nvPr/>
        </p:nvSpPr>
        <p:spPr>
          <a:xfrm>
            <a:off x="512064" y="1975104"/>
            <a:ext cx="4297680" cy="731520"/>
          </a:xfrm>
          <a:prstGeom prst="rect">
            <a:avLst/>
          </a:prstGeom>
          <a:solidFill>
            <a:srgbClr val="000000"/>
          </a:solidFill>
          <a:ln w="12700">
            <a:solidFill>
              <a:srgbClr val="000000"/>
            </a:solidFill>
            <a:prstDash val="solid"/>
          </a:ln>
        </p:spPr>
      </p:sp>
      <p:sp>
        <p:nvSpPr>
          <p:cNvPr id="11" name="card26"/>
          <p:cNvSpPr/>
          <p:nvPr/>
        </p:nvSpPr>
        <p:spPr>
          <a:xfrm>
            <a:off x="457200" y="1920240"/>
            <a:ext cx="4297680" cy="731520"/>
          </a:xfrm>
          <a:prstGeom prst="rect">
            <a:avLst/>
          </a:prstGeom>
          <a:solidFill>
            <a:srgbClr val="FFFFFF"/>
          </a:solidFill>
          <a:ln w="25400">
            <a:solidFill>
              <a:srgbClr val="000000"/>
            </a:solidFill>
            <a:prstDash val="solid"/>
          </a:ln>
        </p:spPr>
      </p:sp>
      <p:sp>
        <p:nvSpPr>
          <p:cNvPr id="12" name="Text 8"/>
          <p:cNvSpPr txBox="1"/>
          <p:nvPr/>
        </p:nvSpPr>
        <p:spPr>
          <a:xfrm>
            <a:off x="640080" y="1993392"/>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Track the quantity</a:t>
            </a:r>
            <a:endParaRPr lang="en-US" sz="1500" dirty="0"/>
          </a:p>
        </p:txBody>
      </p:sp>
      <p:sp>
        <p:nvSpPr>
          <p:cNvPr id="13" name="Text 9"/>
          <p:cNvSpPr txBox="1"/>
          <p:nvPr/>
        </p:nvSpPr>
        <p:spPr>
          <a:xfrm>
            <a:off x="640080" y="2304288"/>
            <a:ext cx="3931920" cy="27432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500 cards, then 600</a:t>
            </a:r>
            <a:endParaRPr lang="en-US" sz="1200" dirty="0"/>
          </a:p>
        </p:txBody>
      </p:sp>
      <p:sp>
        <p:nvSpPr>
          <p:cNvPr id="14" name="shadow27"/>
          <p:cNvSpPr/>
          <p:nvPr/>
        </p:nvSpPr>
        <p:spPr>
          <a:xfrm>
            <a:off x="512064" y="2843784"/>
            <a:ext cx="4297680" cy="731520"/>
          </a:xfrm>
          <a:prstGeom prst="rect">
            <a:avLst/>
          </a:prstGeom>
          <a:solidFill>
            <a:srgbClr val="000000"/>
          </a:solidFill>
          <a:ln w="12700">
            <a:solidFill>
              <a:srgbClr val="000000"/>
            </a:solidFill>
            <a:prstDash val="solid"/>
          </a:ln>
        </p:spPr>
      </p:sp>
      <p:sp>
        <p:nvSpPr>
          <p:cNvPr id="15" name="card27"/>
          <p:cNvSpPr/>
          <p:nvPr/>
        </p:nvSpPr>
        <p:spPr>
          <a:xfrm>
            <a:off x="457200" y="2788920"/>
            <a:ext cx="4297680" cy="731520"/>
          </a:xfrm>
          <a:prstGeom prst="rect">
            <a:avLst/>
          </a:prstGeom>
          <a:solidFill>
            <a:srgbClr val="FFFFFF"/>
          </a:solidFill>
          <a:ln w="25400">
            <a:solidFill>
              <a:srgbClr val="000000"/>
            </a:solidFill>
            <a:prstDash val="solid"/>
          </a:ln>
        </p:spPr>
      </p:sp>
      <p:sp>
        <p:nvSpPr>
          <p:cNvPr id="16" name="Text 12"/>
          <p:cNvSpPr txBox="1"/>
          <p:nvPr/>
        </p:nvSpPr>
        <p:spPr>
          <a:xfrm>
            <a:off x="640080" y="2862072"/>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Accepted by the other side?</a:t>
            </a:r>
            <a:endParaRPr lang="en-US" sz="1500" dirty="0"/>
          </a:p>
        </p:txBody>
      </p:sp>
      <p:sp>
        <p:nvSpPr>
          <p:cNvPr id="17" name="Text 13"/>
          <p:cNvSpPr txBox="1"/>
          <p:nvPr/>
        </p:nvSpPr>
        <p:spPr>
          <a:xfrm>
            <a:off x="640080" y="3172968"/>
            <a:ext cx="3931920" cy="27432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"theek hai … done" counts, a lone quote does not</a:t>
            </a:r>
            <a:endParaRPr lang="en-US" sz="1200" dirty="0"/>
          </a:p>
        </p:txBody>
      </p:sp>
      <p:sp>
        <p:nvSpPr>
          <p:cNvPr id="18" name="shadow28"/>
          <p:cNvSpPr/>
          <p:nvPr/>
        </p:nvSpPr>
        <p:spPr>
          <a:xfrm>
            <a:off x="512064" y="3712464"/>
            <a:ext cx="4297680" cy="731520"/>
          </a:xfrm>
          <a:prstGeom prst="rect">
            <a:avLst/>
          </a:prstGeom>
          <a:solidFill>
            <a:srgbClr val="000000"/>
          </a:solidFill>
          <a:ln w="12700">
            <a:solidFill>
              <a:srgbClr val="000000"/>
            </a:solidFill>
            <a:prstDash val="solid"/>
          </a:ln>
        </p:spPr>
      </p:sp>
      <p:sp>
        <p:nvSpPr>
          <p:cNvPr id="19" name="card28"/>
          <p:cNvSpPr/>
          <p:nvPr/>
        </p:nvSpPr>
        <p:spPr>
          <a:xfrm>
            <a:off x="457200" y="3657600"/>
            <a:ext cx="4297680" cy="731520"/>
          </a:xfrm>
          <a:prstGeom prst="rect">
            <a:avLst/>
          </a:prstGeom>
          <a:solidFill>
            <a:srgbClr val="FFFFFF"/>
          </a:solidFill>
          <a:ln w="25400">
            <a:solidFill>
              <a:srgbClr val="000000"/>
            </a:solidFill>
            <a:prstDash val="solid"/>
          </a:ln>
        </p:spPr>
      </p:sp>
      <p:sp>
        <p:nvSpPr>
          <p:cNvPr id="20" name="Text 16"/>
          <p:cNvSpPr txBox="1"/>
          <p:nvPr/>
        </p:nvSpPr>
        <p:spPr>
          <a:xfrm>
            <a:off x="640080" y="3730752"/>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Keep the history</a:t>
            </a:r>
            <a:endParaRPr lang="en-US" sz="1500" dirty="0"/>
          </a:p>
        </p:txBody>
      </p:sp>
      <p:sp>
        <p:nvSpPr>
          <p:cNvPr id="21" name="Text 17"/>
          <p:cNvSpPr txBox="1"/>
          <p:nvPr/>
        </p:nvSpPr>
        <p:spPr>
          <a:xfrm>
            <a:off x="640080" y="4041648"/>
            <a:ext cx="3931920" cy="27432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46,500 for 500 cards → 54,000 for 600</a:t>
            </a:r>
            <a:endParaRPr lang="en-US" sz="1200" dirty="0"/>
          </a:p>
        </p:txBody>
      </p:sp>
      <p:sp>
        <p:nvSpPr>
          <p:cNvPr id="22" name="Text 18"/>
          <p:cNvSpPr txBox="1"/>
          <p:nvPr/>
        </p:nvSpPr>
        <p:spPr>
          <a:xfrm>
            <a:off x="457200" y="4480560"/>
            <a:ext cx="4297680" cy="27432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Rules reader: under 1 ms, works offline.</a:t>
            </a:r>
            <a:endParaRPr lang="en-US" sz="11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The customer checks each term themselves</a:t>
            </a:r>
            <a:endParaRPr lang="en-US" sz="3000" dirty="0"/>
          </a:p>
        </p:txBody>
      </p:sp>
      <p:pic>
        <p:nvPicPr>
          <p:cNvPr id="4" name="customer-screenshot" descr="/tmp/rep/deck/cust.png">    </p:cNvPr>
          <p:cNvPicPr>
            <a:picLocks noChangeAspect="1"/>
          </p:cNvPicPr>
          <p:nvPr/>
        </p:nvPicPr>
        <p:blipFill>
          <a:blip r:embed="rId1"/>
          <a:stretch>
            <a:fillRect/>
          </a:stretch>
        </p:blipFill>
        <p:spPr>
          <a:xfrm>
            <a:off x="502920" y="1051560"/>
            <a:ext cx="2331720" cy="3568959"/>
          </a:xfrm>
          <a:prstGeom prst="rect">
            <a:avLst/>
          </a:prstGeom>
        </p:spPr>
      </p:pic>
      <p:sp>
        <p:nvSpPr>
          <p:cNvPr id="5" name="customer-frame"/>
          <p:cNvSpPr/>
          <p:nvPr/>
        </p:nvSpPr>
        <p:spPr>
          <a:xfrm>
            <a:off x="457200" y="1005840"/>
            <a:ext cx="2423160" cy="3660399"/>
          </a:xfrm>
          <a:prstGeom prst="rect">
            <a:avLst/>
          </a:prstGeom>
          <a:solidFill>
            <a:srgbClr val="FFFFFF">
              <a:alpha val="0"/>
            </a:srgbClr>
          </a:solidFill>
          <a:ln w="28575">
            <a:solidFill>
              <a:srgbClr val="000000"/>
            </a:solidFill>
            <a:prstDash val="solid"/>
          </a:ln>
        </p:spPr>
      </p:sp>
      <p:sp>
        <p:nvSpPr>
          <p:cNvPr id="6" name="shadow29"/>
          <p:cNvSpPr/>
          <p:nvPr/>
        </p:nvSpPr>
        <p:spPr>
          <a:xfrm>
            <a:off x="3346704" y="1106424"/>
            <a:ext cx="5394960" cy="749808"/>
          </a:xfrm>
          <a:prstGeom prst="rect">
            <a:avLst/>
          </a:prstGeom>
          <a:solidFill>
            <a:srgbClr val="000000"/>
          </a:solidFill>
          <a:ln w="12700">
            <a:solidFill>
              <a:srgbClr val="000000"/>
            </a:solidFill>
            <a:prstDash val="solid"/>
          </a:ln>
        </p:spPr>
      </p:sp>
      <p:sp>
        <p:nvSpPr>
          <p:cNvPr id="7" name="card29"/>
          <p:cNvSpPr/>
          <p:nvPr/>
        </p:nvSpPr>
        <p:spPr>
          <a:xfrm>
            <a:off x="3291840" y="1051560"/>
            <a:ext cx="5394960" cy="749808"/>
          </a:xfrm>
          <a:prstGeom prst="rect">
            <a:avLst/>
          </a:prstGeom>
          <a:solidFill>
            <a:srgbClr val="FFFFFF"/>
          </a:solidFill>
          <a:ln w="25400">
            <a:solidFill>
              <a:srgbClr val="000000"/>
            </a:solidFill>
            <a:prstDash val="solid"/>
          </a:ln>
        </p:spPr>
      </p:sp>
      <p:sp>
        <p:nvSpPr>
          <p:cNvPr id="8" name="Text 4"/>
          <p:cNvSpPr txBox="1"/>
          <p:nvPr/>
        </p:nvSpPr>
        <p:spPr>
          <a:xfrm>
            <a:off x="3474720" y="1143000"/>
            <a:ext cx="2011680" cy="56692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Only cited messages</a:t>
            </a:r>
            <a:endParaRPr lang="en-US" sz="1500" dirty="0"/>
          </a:p>
        </p:txBody>
      </p:sp>
      <p:sp>
        <p:nvSpPr>
          <p:cNvPr id="9" name="Text 5"/>
          <p:cNvSpPr txBox="1"/>
          <p:nvPr/>
        </p:nvSpPr>
        <p:spPr>
          <a:xfrm>
            <a:off x="5532120" y="1143000"/>
            <a:ext cx="301752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They never see the dealer's whole chat.</a:t>
            </a:r>
            <a:endParaRPr lang="en-US" sz="1300" dirty="0"/>
          </a:p>
        </p:txBody>
      </p:sp>
      <p:sp>
        <p:nvSpPr>
          <p:cNvPr id="10" name="shadow30"/>
          <p:cNvSpPr/>
          <p:nvPr/>
        </p:nvSpPr>
        <p:spPr>
          <a:xfrm>
            <a:off x="3346704" y="2002536"/>
            <a:ext cx="5394960" cy="749808"/>
          </a:xfrm>
          <a:prstGeom prst="rect">
            <a:avLst/>
          </a:prstGeom>
          <a:solidFill>
            <a:srgbClr val="000000"/>
          </a:solidFill>
          <a:ln w="12700">
            <a:solidFill>
              <a:srgbClr val="000000"/>
            </a:solidFill>
            <a:prstDash val="solid"/>
          </a:ln>
        </p:spPr>
      </p:sp>
      <p:sp>
        <p:nvSpPr>
          <p:cNvPr id="11" name="card30"/>
          <p:cNvSpPr/>
          <p:nvPr/>
        </p:nvSpPr>
        <p:spPr>
          <a:xfrm>
            <a:off x="3291840" y="1947672"/>
            <a:ext cx="5394960" cy="749808"/>
          </a:xfrm>
          <a:prstGeom prst="rect">
            <a:avLst/>
          </a:prstGeom>
          <a:solidFill>
            <a:srgbClr val="FFFFFF"/>
          </a:solidFill>
          <a:ln w="25400">
            <a:solidFill>
              <a:srgbClr val="000000"/>
            </a:solidFill>
            <a:prstDash val="solid"/>
          </a:ln>
        </p:spPr>
      </p:sp>
      <p:sp>
        <p:nvSpPr>
          <p:cNvPr id="12" name="Text 8"/>
          <p:cNvSpPr txBox="1"/>
          <p:nvPr/>
        </p:nvSpPr>
        <p:spPr>
          <a:xfrm>
            <a:off x="3474720" y="2039112"/>
            <a:ext cx="2011680" cy="56692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Match or mismatch</a:t>
            </a:r>
            <a:endParaRPr lang="en-US" sz="1500" dirty="0"/>
          </a:p>
        </p:txBody>
      </p:sp>
      <p:sp>
        <p:nvSpPr>
          <p:cNvPr id="13" name="Text 9"/>
          <p:cNvSpPr txBox="1"/>
          <p:nvPr/>
        </p:nvSpPr>
        <p:spPr>
          <a:xfrm>
            <a:off x="5532120" y="2039112"/>
            <a:ext cx="301752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A mismatch becomes a change request with their note.</a:t>
            </a:r>
            <a:endParaRPr lang="en-US" sz="1300" dirty="0"/>
          </a:p>
        </p:txBody>
      </p:sp>
      <p:sp>
        <p:nvSpPr>
          <p:cNvPr id="14" name="shadow31"/>
          <p:cNvSpPr/>
          <p:nvPr/>
        </p:nvSpPr>
        <p:spPr>
          <a:xfrm>
            <a:off x="3346704" y="2898648"/>
            <a:ext cx="5394960" cy="749808"/>
          </a:xfrm>
          <a:prstGeom prst="rect">
            <a:avLst/>
          </a:prstGeom>
          <a:solidFill>
            <a:srgbClr val="000000"/>
          </a:solidFill>
          <a:ln w="12700">
            <a:solidFill>
              <a:srgbClr val="000000"/>
            </a:solidFill>
            <a:prstDash val="solid"/>
          </a:ln>
        </p:spPr>
      </p:sp>
      <p:sp>
        <p:nvSpPr>
          <p:cNvPr id="15" name="card31"/>
          <p:cNvSpPr/>
          <p:nvPr/>
        </p:nvSpPr>
        <p:spPr>
          <a:xfrm>
            <a:off x="3291840" y="2843784"/>
            <a:ext cx="5394960" cy="749808"/>
          </a:xfrm>
          <a:prstGeom prst="rect">
            <a:avLst/>
          </a:prstGeom>
          <a:solidFill>
            <a:srgbClr val="FFFFFF"/>
          </a:solidFill>
          <a:ln w="25400">
            <a:solidFill>
              <a:srgbClr val="000000"/>
            </a:solidFill>
            <a:prstDash val="solid"/>
          </a:ln>
        </p:spPr>
      </p:sp>
      <p:sp>
        <p:nvSpPr>
          <p:cNvPr id="16" name="Text 12"/>
          <p:cNvSpPr txBox="1"/>
          <p:nvPr/>
        </p:nvSpPr>
        <p:spPr>
          <a:xfrm>
            <a:off x="3474720" y="2935224"/>
            <a:ext cx="2011680" cy="56692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Approve is locked</a:t>
            </a:r>
            <a:endParaRPr lang="en-US" sz="1500" dirty="0"/>
          </a:p>
        </p:txBody>
      </p:sp>
      <p:sp>
        <p:nvSpPr>
          <p:cNvPr id="17" name="Text 13"/>
          <p:cNvSpPr txBox="1"/>
          <p:nvPr/>
        </p:nvSpPr>
        <p:spPr>
          <a:xfrm>
            <a:off x="5532120" y="2935224"/>
            <a:ext cx="301752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Until every term is checked, enforced on the server.</a:t>
            </a:r>
            <a:endParaRPr lang="en-US" sz="1300" dirty="0"/>
          </a:p>
        </p:txBody>
      </p:sp>
      <p:sp>
        <p:nvSpPr>
          <p:cNvPr id="18" name="shadow32"/>
          <p:cNvSpPr/>
          <p:nvPr/>
        </p:nvSpPr>
        <p:spPr>
          <a:xfrm>
            <a:off x="3346704" y="3794760"/>
            <a:ext cx="5394960" cy="749808"/>
          </a:xfrm>
          <a:prstGeom prst="rect">
            <a:avLst/>
          </a:prstGeom>
          <a:solidFill>
            <a:srgbClr val="000000"/>
          </a:solidFill>
          <a:ln w="12700">
            <a:solidFill>
              <a:srgbClr val="000000"/>
            </a:solidFill>
            <a:prstDash val="solid"/>
          </a:ln>
        </p:spPr>
      </p:sp>
      <p:sp>
        <p:nvSpPr>
          <p:cNvPr id="19" name="card32"/>
          <p:cNvSpPr/>
          <p:nvPr/>
        </p:nvSpPr>
        <p:spPr>
          <a:xfrm>
            <a:off x="3291840" y="3739896"/>
            <a:ext cx="5394960" cy="749808"/>
          </a:xfrm>
          <a:prstGeom prst="rect">
            <a:avLst/>
          </a:prstGeom>
          <a:solidFill>
            <a:srgbClr val="FFFFFF"/>
          </a:solidFill>
          <a:ln w="25400">
            <a:solidFill>
              <a:srgbClr val="000000"/>
            </a:solidFill>
            <a:prstDash val="solid"/>
          </a:ln>
        </p:spPr>
      </p:sp>
      <p:sp>
        <p:nvSpPr>
          <p:cNvPr id="20" name="Text 16"/>
          <p:cNvSpPr txBox="1"/>
          <p:nvPr/>
        </p:nvSpPr>
        <p:spPr>
          <a:xfrm>
            <a:off x="3474720" y="3831336"/>
            <a:ext cx="2011680" cy="56692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Linked by private link</a:t>
            </a:r>
            <a:endParaRPr lang="en-US" sz="1500" dirty="0"/>
          </a:p>
        </p:txBody>
      </p:sp>
      <p:sp>
        <p:nvSpPr>
          <p:cNvPr id="21" name="Text 17"/>
          <p:cNvSpPr txBox="1"/>
          <p:nvPr/>
        </p:nvSpPr>
        <p:spPr>
          <a:xfrm>
            <a:off x="5532120" y="3831336"/>
            <a:ext cx="3017520" cy="566928"/>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Never by guessing an email or phone number.</a:t>
            </a:r>
            <a:endParaRPr lang="en-US" sz="13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Proof you can't quietly change</a:t>
            </a:r>
            <a:endParaRPr lang="en-US" sz="3000" dirty="0"/>
          </a:p>
        </p:txBody>
      </p:sp>
      <p:pic>
        <p:nvPicPr>
          <p:cNvPr id="4" name="proof-screenshot" descr="/tmp/rep/deck/proof.png">    </p:cNvPr>
          <p:cNvPicPr>
            <a:picLocks noChangeAspect="1"/>
          </p:cNvPicPr>
          <p:nvPr/>
        </p:nvPicPr>
        <p:blipFill>
          <a:blip r:embed="rId1"/>
          <a:stretch>
            <a:fillRect/>
          </a:stretch>
        </p:blipFill>
        <p:spPr>
          <a:xfrm>
            <a:off x="502920" y="1051560"/>
            <a:ext cx="4114800" cy="2864224"/>
          </a:xfrm>
          <a:prstGeom prst="rect">
            <a:avLst/>
          </a:prstGeom>
        </p:spPr>
      </p:pic>
      <p:sp>
        <p:nvSpPr>
          <p:cNvPr id="5" name="proof-frame"/>
          <p:cNvSpPr/>
          <p:nvPr/>
        </p:nvSpPr>
        <p:spPr>
          <a:xfrm>
            <a:off x="457200" y="1005840"/>
            <a:ext cx="4206240" cy="2955664"/>
          </a:xfrm>
          <a:prstGeom prst="rect">
            <a:avLst/>
          </a:prstGeom>
          <a:solidFill>
            <a:srgbClr val="FFFFFF">
              <a:alpha val="0"/>
            </a:srgbClr>
          </a:solidFill>
          <a:ln w="28575">
            <a:solidFill>
              <a:srgbClr val="000000"/>
            </a:solidFill>
            <a:prstDash val="solid"/>
          </a:ln>
        </p:spPr>
      </p:sp>
      <p:sp>
        <p:nvSpPr>
          <p:cNvPr id="6" name="shadow33"/>
          <p:cNvSpPr/>
          <p:nvPr/>
        </p:nvSpPr>
        <p:spPr>
          <a:xfrm>
            <a:off x="5266944" y="1060704"/>
            <a:ext cx="3474720" cy="530352"/>
          </a:xfrm>
          <a:prstGeom prst="rect">
            <a:avLst/>
          </a:prstGeom>
          <a:solidFill>
            <a:srgbClr val="000000"/>
          </a:solidFill>
          <a:ln w="12700">
            <a:solidFill>
              <a:srgbClr val="000000"/>
            </a:solidFill>
            <a:prstDash val="solid"/>
          </a:ln>
        </p:spPr>
      </p:sp>
      <p:sp>
        <p:nvSpPr>
          <p:cNvPr id="7" name="card33"/>
          <p:cNvSpPr/>
          <p:nvPr/>
        </p:nvSpPr>
        <p:spPr>
          <a:xfrm>
            <a:off x="5212080" y="1005840"/>
            <a:ext cx="3474720" cy="530352"/>
          </a:xfrm>
          <a:prstGeom prst="rect">
            <a:avLst/>
          </a:prstGeom>
          <a:solidFill>
            <a:srgbClr val="FFFFFF"/>
          </a:solidFill>
          <a:ln w="25400">
            <a:solidFill>
              <a:srgbClr val="000000"/>
            </a:solidFill>
            <a:prstDash val="solid"/>
          </a:ln>
        </p:spPr>
      </p:sp>
      <p:sp>
        <p:nvSpPr>
          <p:cNvPr id="8" name="Text 4"/>
          <p:cNvSpPr txBox="1"/>
          <p:nvPr/>
        </p:nvSpPr>
        <p:spPr>
          <a:xfrm>
            <a:off x="5394960" y="1005840"/>
            <a:ext cx="3108960" cy="530352"/>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1  Evidence added</a:t>
            </a:r>
            <a:endParaRPr lang="en-US" sz="1400" dirty="0"/>
          </a:p>
        </p:txBody>
      </p:sp>
      <p:sp>
        <p:nvSpPr>
          <p:cNvPr id="9" name="shadow34"/>
          <p:cNvSpPr/>
          <p:nvPr/>
        </p:nvSpPr>
        <p:spPr>
          <a:xfrm>
            <a:off x="5266944" y="1810512"/>
            <a:ext cx="3474720" cy="530352"/>
          </a:xfrm>
          <a:prstGeom prst="rect">
            <a:avLst/>
          </a:prstGeom>
          <a:solidFill>
            <a:srgbClr val="000000"/>
          </a:solidFill>
          <a:ln w="12700">
            <a:solidFill>
              <a:srgbClr val="000000"/>
            </a:solidFill>
            <a:prstDash val="solid"/>
          </a:ln>
        </p:spPr>
      </p:sp>
      <p:sp>
        <p:nvSpPr>
          <p:cNvPr id="10" name="card34"/>
          <p:cNvSpPr/>
          <p:nvPr/>
        </p:nvSpPr>
        <p:spPr>
          <a:xfrm>
            <a:off x="5212080" y="1755648"/>
            <a:ext cx="3474720" cy="530352"/>
          </a:xfrm>
          <a:prstGeom prst="rect">
            <a:avLst/>
          </a:prstGeom>
          <a:solidFill>
            <a:srgbClr val="FFFFFF"/>
          </a:solidFill>
          <a:ln w="25400">
            <a:solidFill>
              <a:srgbClr val="000000"/>
            </a:solidFill>
            <a:prstDash val="solid"/>
          </a:ln>
        </p:spPr>
      </p:sp>
      <p:sp>
        <p:nvSpPr>
          <p:cNvPr id="11" name="Text 7"/>
          <p:cNvSpPr txBox="1"/>
          <p:nvPr/>
        </p:nvSpPr>
        <p:spPr>
          <a:xfrm>
            <a:off x="5394960" y="1755648"/>
            <a:ext cx="3108960" cy="530352"/>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2  Terms read</a:t>
            </a:r>
            <a:endParaRPr lang="en-US" sz="1400" dirty="0"/>
          </a:p>
        </p:txBody>
      </p:sp>
      <p:sp>
        <p:nvSpPr>
          <p:cNvPr id="12" name="shadow35"/>
          <p:cNvSpPr/>
          <p:nvPr/>
        </p:nvSpPr>
        <p:spPr>
          <a:xfrm>
            <a:off x="5266944" y="2560320"/>
            <a:ext cx="3474720" cy="530352"/>
          </a:xfrm>
          <a:prstGeom prst="rect">
            <a:avLst/>
          </a:prstGeom>
          <a:solidFill>
            <a:srgbClr val="000000"/>
          </a:solidFill>
          <a:ln w="12700">
            <a:solidFill>
              <a:srgbClr val="000000"/>
            </a:solidFill>
            <a:prstDash val="solid"/>
          </a:ln>
        </p:spPr>
      </p:sp>
      <p:sp>
        <p:nvSpPr>
          <p:cNvPr id="13" name="card35"/>
          <p:cNvSpPr/>
          <p:nvPr/>
        </p:nvSpPr>
        <p:spPr>
          <a:xfrm>
            <a:off x="5212080" y="2505456"/>
            <a:ext cx="3474720" cy="530352"/>
          </a:xfrm>
          <a:prstGeom prst="rect">
            <a:avLst/>
          </a:prstGeom>
          <a:solidFill>
            <a:srgbClr val="FFFFFF"/>
          </a:solidFill>
          <a:ln w="25400">
            <a:solidFill>
              <a:srgbClr val="000000"/>
            </a:solidFill>
            <a:prstDash val="solid"/>
          </a:ln>
        </p:spPr>
      </p:sp>
      <p:sp>
        <p:nvSpPr>
          <p:cNvPr id="14" name="Text 10"/>
          <p:cNvSpPr txBox="1"/>
          <p:nvPr/>
        </p:nvSpPr>
        <p:spPr>
          <a:xfrm>
            <a:off x="5394960" y="2505456"/>
            <a:ext cx="3108960" cy="530352"/>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3  Agreement written</a:t>
            </a:r>
            <a:endParaRPr lang="en-US" sz="1400" dirty="0"/>
          </a:p>
        </p:txBody>
      </p:sp>
      <p:sp>
        <p:nvSpPr>
          <p:cNvPr id="15" name="shadow36"/>
          <p:cNvSpPr/>
          <p:nvPr/>
        </p:nvSpPr>
        <p:spPr>
          <a:xfrm>
            <a:off x="5266944" y="3310128"/>
            <a:ext cx="3474720" cy="530352"/>
          </a:xfrm>
          <a:prstGeom prst="rect">
            <a:avLst/>
          </a:prstGeom>
          <a:solidFill>
            <a:srgbClr val="000000"/>
          </a:solidFill>
          <a:ln w="12700">
            <a:solidFill>
              <a:srgbClr val="000000"/>
            </a:solidFill>
            <a:prstDash val="solid"/>
          </a:ln>
        </p:spPr>
      </p:sp>
      <p:sp>
        <p:nvSpPr>
          <p:cNvPr id="16" name="card36"/>
          <p:cNvSpPr/>
          <p:nvPr/>
        </p:nvSpPr>
        <p:spPr>
          <a:xfrm>
            <a:off x="5212080" y="3255264"/>
            <a:ext cx="3474720" cy="530352"/>
          </a:xfrm>
          <a:prstGeom prst="rect">
            <a:avLst/>
          </a:prstGeom>
          <a:solidFill>
            <a:srgbClr val="000000"/>
          </a:solidFill>
          <a:ln w="25400">
            <a:solidFill>
              <a:srgbClr val="000000"/>
            </a:solidFill>
            <a:prstDash val="solid"/>
          </a:ln>
        </p:spPr>
      </p:sp>
      <p:sp>
        <p:nvSpPr>
          <p:cNvPr id="17" name="Text 13"/>
          <p:cNvSpPr txBox="1"/>
          <p:nvPr/>
        </p:nvSpPr>
        <p:spPr>
          <a:xfrm>
            <a:off x="5394960" y="3255264"/>
            <a:ext cx="3108960" cy="53035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4  Approved</a:t>
            </a:r>
            <a:endParaRPr lang="en-US" sz="1400" dirty="0"/>
          </a:p>
        </p:txBody>
      </p:sp>
      <p:sp>
        <p:nvSpPr>
          <p:cNvPr id="18" name="Text 14"/>
          <p:cNvSpPr txBox="1"/>
          <p:nvPr/>
        </p:nvSpPr>
        <p:spPr>
          <a:xfrm>
            <a:off x="5212080" y="4069080"/>
            <a:ext cx="3474720" cy="64008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Each entry stores the hash of the one before it. Agreement and evidence report download as PDFs.</a:t>
            </a:r>
            <a:endParaRPr lang="en-US" sz="12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How it fits together</a:t>
            </a:r>
            <a:endParaRPr lang="en-US" sz="3000" dirty="0"/>
          </a:p>
        </p:txBody>
      </p:sp>
      <p:sp>
        <p:nvSpPr>
          <p:cNvPr id="4" name="shadow37"/>
          <p:cNvSpPr/>
          <p:nvPr/>
        </p:nvSpPr>
        <p:spPr>
          <a:xfrm>
            <a:off x="512064" y="1243584"/>
            <a:ext cx="2103120" cy="1463040"/>
          </a:xfrm>
          <a:prstGeom prst="rect">
            <a:avLst/>
          </a:prstGeom>
          <a:solidFill>
            <a:srgbClr val="000000"/>
          </a:solidFill>
          <a:ln w="12700">
            <a:solidFill>
              <a:srgbClr val="000000"/>
            </a:solidFill>
            <a:prstDash val="solid"/>
          </a:ln>
        </p:spPr>
      </p:sp>
      <p:sp>
        <p:nvSpPr>
          <p:cNvPr id="5" name="card37"/>
          <p:cNvSpPr/>
          <p:nvPr/>
        </p:nvSpPr>
        <p:spPr>
          <a:xfrm>
            <a:off x="457200" y="1188720"/>
            <a:ext cx="2103120" cy="1463040"/>
          </a:xfrm>
          <a:prstGeom prst="rect">
            <a:avLst/>
          </a:prstGeom>
          <a:solidFill>
            <a:srgbClr val="FFFFFF"/>
          </a:solidFill>
          <a:ln w="25400">
            <a:solidFill>
              <a:srgbClr val="000000"/>
            </a:solidFill>
            <a:prstDash val="solid"/>
          </a:ln>
        </p:spPr>
      </p:sp>
      <p:sp>
        <p:nvSpPr>
          <p:cNvPr id="6" name="Text 3"/>
          <p:cNvSpPr txBox="1"/>
          <p:nvPr/>
        </p:nvSpPr>
        <p:spPr>
          <a:xfrm>
            <a:off x="594360" y="1280160"/>
            <a:ext cx="1828800"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Browser</a:t>
            </a:r>
            <a:endParaRPr lang="en-US" sz="1500" dirty="0"/>
          </a:p>
        </p:txBody>
      </p:sp>
      <p:sp>
        <p:nvSpPr>
          <p:cNvPr id="7" name="Text 4"/>
          <p:cNvSpPr txBox="1"/>
          <p:nvPr/>
        </p:nvSpPr>
        <p:spPr>
          <a:xfrm>
            <a:off x="594360" y="1645920"/>
            <a:ext cx="1828800" cy="960120"/>
          </a:xfrm>
          <a:prstGeom prst="rect">
            <a:avLst/>
          </a:prstGeom>
          <a:noFill/>
          <a:ln/>
        </p:spPr>
        <p:txBody>
          <a:bodyPr wrap="square" lIns="0" tIns="0" rIns="0" bIns="0" rtlCol="0" anchor="t"/>
          <a:lstStyle/>
          <a:p>
            <a:pPr indent="0" marL="0">
              <a:buNone/>
            </a:pPr>
            <a:r>
              <a:rPr lang="en-US" sz="1100" dirty="0">
                <a:solidFill>
                  <a:srgbClr val="000000"/>
                </a:solidFill>
                <a:latin typeface="Arial" pitchFamily="34" charset="0"/>
                <a:ea typeface="Arial" pitchFamily="34" charset="-122"/>
                <a:cs typeface="Arial" pitchFamily="34" charset="-120"/>
              </a:rPr>
              <a:t>Landing demo, dealer pages, customer portal, confirm link</a:t>
            </a:r>
            <a:endParaRPr lang="en-US" sz="1100" dirty="0"/>
          </a:p>
        </p:txBody>
      </p:sp>
      <p:sp>
        <p:nvSpPr>
          <p:cNvPr id="8" name="shadow38"/>
          <p:cNvSpPr/>
          <p:nvPr/>
        </p:nvSpPr>
        <p:spPr>
          <a:xfrm>
            <a:off x="3163824" y="1243584"/>
            <a:ext cx="2926080" cy="1463040"/>
          </a:xfrm>
          <a:prstGeom prst="rect">
            <a:avLst/>
          </a:prstGeom>
          <a:solidFill>
            <a:srgbClr val="000000"/>
          </a:solidFill>
          <a:ln w="12700">
            <a:solidFill>
              <a:srgbClr val="000000"/>
            </a:solidFill>
            <a:prstDash val="solid"/>
          </a:ln>
        </p:spPr>
      </p:sp>
      <p:sp>
        <p:nvSpPr>
          <p:cNvPr id="9" name="card38"/>
          <p:cNvSpPr/>
          <p:nvPr/>
        </p:nvSpPr>
        <p:spPr>
          <a:xfrm>
            <a:off x="3108960" y="1188720"/>
            <a:ext cx="2926080" cy="1463040"/>
          </a:xfrm>
          <a:prstGeom prst="rect">
            <a:avLst/>
          </a:prstGeom>
          <a:solidFill>
            <a:srgbClr val="000000"/>
          </a:solidFill>
          <a:ln w="25400">
            <a:solidFill>
              <a:srgbClr val="000000"/>
            </a:solidFill>
            <a:prstDash val="solid"/>
          </a:ln>
        </p:spPr>
      </p:sp>
      <p:sp>
        <p:nvSpPr>
          <p:cNvPr id="10" name="Text 7"/>
          <p:cNvSpPr txBox="1"/>
          <p:nvPr/>
        </p:nvSpPr>
        <p:spPr>
          <a:xfrm>
            <a:off x="3246120" y="1280160"/>
            <a:ext cx="2651760" cy="32004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FastAPI server</a:t>
            </a:r>
            <a:endParaRPr lang="en-US" sz="1500" dirty="0"/>
          </a:p>
        </p:txBody>
      </p:sp>
      <p:sp>
        <p:nvSpPr>
          <p:cNvPr id="11" name="Text 8"/>
          <p:cNvSpPr txBox="1"/>
          <p:nvPr/>
        </p:nvSpPr>
        <p:spPr>
          <a:xfrm>
            <a:off x="3246120" y="1645920"/>
            <a:ext cx="2651760" cy="9601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Login and roles, parser, extraction, safety check, evidence chain, PDF export</a:t>
            </a:r>
            <a:endParaRPr lang="en-US" sz="1100" dirty="0"/>
          </a:p>
        </p:txBody>
      </p:sp>
      <p:sp>
        <p:nvSpPr>
          <p:cNvPr id="12" name="shadow39"/>
          <p:cNvSpPr/>
          <p:nvPr/>
        </p:nvSpPr>
        <p:spPr>
          <a:xfrm>
            <a:off x="6638544" y="1243584"/>
            <a:ext cx="2103120" cy="1463040"/>
          </a:xfrm>
          <a:prstGeom prst="rect">
            <a:avLst/>
          </a:prstGeom>
          <a:solidFill>
            <a:srgbClr val="000000"/>
          </a:solidFill>
          <a:ln w="12700">
            <a:solidFill>
              <a:srgbClr val="000000"/>
            </a:solidFill>
            <a:prstDash val="solid"/>
          </a:ln>
        </p:spPr>
      </p:sp>
      <p:sp>
        <p:nvSpPr>
          <p:cNvPr id="13" name="card39"/>
          <p:cNvSpPr/>
          <p:nvPr/>
        </p:nvSpPr>
        <p:spPr>
          <a:xfrm>
            <a:off x="6583680" y="1188720"/>
            <a:ext cx="2103120" cy="1463040"/>
          </a:xfrm>
          <a:prstGeom prst="rect">
            <a:avLst/>
          </a:prstGeom>
          <a:solidFill>
            <a:srgbClr val="FFFFFF"/>
          </a:solidFill>
          <a:ln w="25400">
            <a:solidFill>
              <a:srgbClr val="000000"/>
            </a:solidFill>
            <a:prstDash val="solid"/>
          </a:ln>
        </p:spPr>
      </p:sp>
      <p:sp>
        <p:nvSpPr>
          <p:cNvPr id="14" name="Text 11"/>
          <p:cNvSpPr txBox="1"/>
          <p:nvPr/>
        </p:nvSpPr>
        <p:spPr>
          <a:xfrm>
            <a:off x="6720840" y="1280160"/>
            <a:ext cx="1828800"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Storage</a:t>
            </a:r>
            <a:endParaRPr lang="en-US" sz="1500" dirty="0"/>
          </a:p>
        </p:txBody>
      </p:sp>
      <p:sp>
        <p:nvSpPr>
          <p:cNvPr id="15" name="Text 12"/>
          <p:cNvSpPr txBox="1"/>
          <p:nvPr/>
        </p:nvSpPr>
        <p:spPr>
          <a:xfrm>
            <a:off x="6720840" y="1645920"/>
            <a:ext cx="1828800" cy="960120"/>
          </a:xfrm>
          <a:prstGeom prst="rect">
            <a:avLst/>
          </a:prstGeom>
          <a:noFill/>
          <a:ln/>
        </p:spPr>
        <p:txBody>
          <a:bodyPr wrap="square" lIns="0" tIns="0" rIns="0" bIns="0" rtlCol="0" anchor="t"/>
          <a:lstStyle/>
          <a:p>
            <a:pPr indent="0" marL="0">
              <a:buNone/>
            </a:pPr>
            <a:r>
              <a:rPr lang="en-US" sz="1100" dirty="0">
                <a:solidFill>
                  <a:srgbClr val="000000"/>
                </a:solidFill>
                <a:latin typeface="Arial" pitchFamily="34" charset="0"/>
                <a:ea typeface="Arial" pitchFamily="34" charset="-122"/>
                <a:cs typeface="Arial" pitchFamily="34" charset="-120"/>
              </a:rPr>
              <a:t>SQLite file and uploaded files</a:t>
            </a:r>
            <a:endParaRPr lang="en-US" sz="1100" dirty="0"/>
          </a:p>
        </p:txBody>
      </p:sp>
      <p:sp>
        <p:nvSpPr>
          <p:cNvPr id="16" name="shadow40"/>
          <p:cNvSpPr/>
          <p:nvPr/>
        </p:nvSpPr>
        <p:spPr>
          <a:xfrm>
            <a:off x="3163824" y="3255264"/>
            <a:ext cx="2926080" cy="1097280"/>
          </a:xfrm>
          <a:prstGeom prst="rect">
            <a:avLst/>
          </a:prstGeom>
          <a:solidFill>
            <a:srgbClr val="000000"/>
          </a:solidFill>
          <a:ln w="12700">
            <a:solidFill>
              <a:srgbClr val="000000"/>
            </a:solidFill>
            <a:prstDash val="solid"/>
          </a:ln>
        </p:spPr>
      </p:sp>
      <p:sp>
        <p:nvSpPr>
          <p:cNvPr id="17" name="card40"/>
          <p:cNvSpPr/>
          <p:nvPr/>
        </p:nvSpPr>
        <p:spPr>
          <a:xfrm>
            <a:off x="3108960" y="3200400"/>
            <a:ext cx="2926080" cy="1097280"/>
          </a:xfrm>
          <a:prstGeom prst="rect">
            <a:avLst/>
          </a:prstGeom>
          <a:solidFill>
            <a:srgbClr val="FFFFFF"/>
          </a:solidFill>
          <a:ln w="25400">
            <a:solidFill>
              <a:srgbClr val="000000"/>
            </a:solidFill>
            <a:prstDash val="solid"/>
          </a:ln>
        </p:spPr>
      </p:sp>
      <p:sp>
        <p:nvSpPr>
          <p:cNvPr id="18" name="Text 15"/>
          <p:cNvSpPr txBox="1"/>
          <p:nvPr/>
        </p:nvSpPr>
        <p:spPr>
          <a:xfrm>
            <a:off x="3246120" y="3291840"/>
            <a:ext cx="2651760"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Term extraction</a:t>
            </a:r>
            <a:endParaRPr lang="en-US" sz="1500" dirty="0"/>
          </a:p>
        </p:txBody>
      </p:sp>
      <p:sp>
        <p:nvSpPr>
          <p:cNvPr id="19" name="Text 16"/>
          <p:cNvSpPr txBox="1"/>
          <p:nvPr/>
        </p:nvSpPr>
        <p:spPr>
          <a:xfrm>
            <a:off x="3246120" y="3657600"/>
            <a:ext cx="2651760" cy="594360"/>
          </a:xfrm>
          <a:prstGeom prst="rect">
            <a:avLst/>
          </a:prstGeom>
          <a:noFill/>
          <a:ln/>
        </p:spPr>
        <p:txBody>
          <a:bodyPr wrap="square" lIns="0" tIns="0" rIns="0" bIns="0" rtlCol="0" anchor="t"/>
          <a:lstStyle/>
          <a:p>
            <a:pPr indent="0" marL="0">
              <a:buNone/>
            </a:pPr>
            <a:r>
              <a:rPr lang="en-US" sz="1100" dirty="0">
                <a:solidFill>
                  <a:srgbClr val="000000"/>
                </a:solidFill>
                <a:latin typeface="Arial" pitchFamily="34" charset="0"/>
                <a:ea typeface="Arial" pitchFamily="34" charset="-122"/>
                <a:cs typeface="Arial" pitchFamily="34" charset="-120"/>
              </a:rPr>
              <a:t>Rules reader (default), Ollama local model, Claude (optional)</a:t>
            </a:r>
            <a:endParaRPr lang="en-US" sz="1100" dirty="0"/>
          </a:p>
        </p:txBody>
      </p:sp>
      <p:sp>
        <p:nvSpPr>
          <p:cNvPr id="20" name="shadow41"/>
          <p:cNvSpPr/>
          <p:nvPr/>
        </p:nvSpPr>
        <p:spPr>
          <a:xfrm>
            <a:off x="6638544" y="3255264"/>
            <a:ext cx="2103120" cy="1097280"/>
          </a:xfrm>
          <a:prstGeom prst="rect">
            <a:avLst/>
          </a:prstGeom>
          <a:solidFill>
            <a:srgbClr val="000000"/>
          </a:solidFill>
          <a:ln w="12700">
            <a:solidFill>
              <a:srgbClr val="000000"/>
            </a:solidFill>
            <a:prstDash val="solid"/>
          </a:ln>
        </p:spPr>
      </p:sp>
      <p:sp>
        <p:nvSpPr>
          <p:cNvPr id="21" name="card41"/>
          <p:cNvSpPr/>
          <p:nvPr/>
        </p:nvSpPr>
        <p:spPr>
          <a:xfrm>
            <a:off x="6583680" y="3200400"/>
            <a:ext cx="2103120" cy="1097280"/>
          </a:xfrm>
          <a:prstGeom prst="rect">
            <a:avLst/>
          </a:prstGeom>
          <a:solidFill>
            <a:srgbClr val="FFFFFF"/>
          </a:solidFill>
          <a:ln w="25400">
            <a:solidFill>
              <a:srgbClr val="000000"/>
            </a:solidFill>
            <a:prstDash val="solid"/>
          </a:ln>
        </p:spPr>
      </p:sp>
      <p:sp>
        <p:nvSpPr>
          <p:cNvPr id="22" name="Text 19"/>
          <p:cNvSpPr txBox="1"/>
          <p:nvPr/>
        </p:nvSpPr>
        <p:spPr>
          <a:xfrm>
            <a:off x="6720840" y="3291840"/>
            <a:ext cx="1828800"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Ollama</a:t>
            </a:r>
            <a:endParaRPr lang="en-US" sz="1500" dirty="0"/>
          </a:p>
        </p:txBody>
      </p:sp>
      <p:sp>
        <p:nvSpPr>
          <p:cNvPr id="23" name="Text 20"/>
          <p:cNvSpPr txBox="1"/>
          <p:nvPr/>
        </p:nvSpPr>
        <p:spPr>
          <a:xfrm>
            <a:off x="6720840" y="3657600"/>
            <a:ext cx="1828800" cy="594360"/>
          </a:xfrm>
          <a:prstGeom prst="rect">
            <a:avLst/>
          </a:prstGeom>
          <a:noFill/>
          <a:ln/>
        </p:spPr>
        <p:txBody>
          <a:bodyPr wrap="square" lIns="0" tIns="0" rIns="0" bIns="0" rtlCol="0" anchor="t"/>
          <a:lstStyle/>
          <a:p>
            <a:pPr indent="0" marL="0">
              <a:buNone/>
            </a:pPr>
            <a:r>
              <a:rPr lang="en-US" sz="1100" dirty="0">
                <a:solidFill>
                  <a:srgbClr val="000000"/>
                </a:solidFill>
                <a:latin typeface="Arial" pitchFamily="34" charset="0"/>
                <a:ea typeface="Arial" pitchFamily="34" charset="-122"/>
                <a:cs typeface="Arial" pitchFamily="34" charset="-120"/>
              </a:rPr>
              <a:t>qwen2.5:7b on the Mac, optional</a:t>
            </a:r>
            <a:endParaRPr lang="en-US" sz="1100" dirty="0"/>
          </a:p>
        </p:txBody>
      </p:sp>
      <p:sp>
        <p:nvSpPr>
          <p:cNvPr id="24" name="Text 21"/>
          <p:cNvSpPr txBox="1"/>
          <p:nvPr/>
        </p:nvSpPr>
        <p:spPr>
          <a:xfrm>
            <a:off x="2560320" y="1691640"/>
            <a:ext cx="548640" cy="457200"/>
          </a:xfrm>
          <a:prstGeom prst="rect">
            <a:avLst/>
          </a:prstGeom>
          <a:noFill/>
          <a:ln/>
        </p:spPr>
        <p:txBody>
          <a:bodyPr wrap="square" lIns="0" tIns="0" rIns="0" bIns="0" rtlCol="0" anchor="t"/>
          <a:lstStyle/>
          <a:p>
            <a:pPr algn="ctr" indent="0" marL="0">
              <a:buNone/>
            </a:pPr>
            <a:r>
              <a:rPr lang="en-US" sz="2400" b="1" dirty="0">
                <a:solidFill>
                  <a:schemeClr val="tx1"/>
                </a:solidFill>
                <a:latin typeface="Arial" pitchFamily="34" charset="0"/>
                <a:ea typeface="Arial" pitchFamily="34" charset="-122"/>
                <a:cs typeface="Arial" pitchFamily="34" charset="-120"/>
              </a:rPr>
              <a:t>→</a:t>
            </a:r>
            <a:endParaRPr lang="en-US" sz="2400" dirty="0"/>
          </a:p>
        </p:txBody>
      </p:sp>
      <p:sp>
        <p:nvSpPr>
          <p:cNvPr id="25" name="Text 22"/>
          <p:cNvSpPr txBox="1"/>
          <p:nvPr/>
        </p:nvSpPr>
        <p:spPr>
          <a:xfrm>
            <a:off x="6035040" y="1691640"/>
            <a:ext cx="548640" cy="457200"/>
          </a:xfrm>
          <a:prstGeom prst="rect">
            <a:avLst/>
          </a:prstGeom>
          <a:noFill/>
          <a:ln/>
        </p:spPr>
        <p:txBody>
          <a:bodyPr wrap="square" lIns="0" tIns="0" rIns="0" bIns="0" rtlCol="0" anchor="t"/>
          <a:lstStyle/>
          <a:p>
            <a:pPr algn="ctr" indent="0" marL="0">
              <a:buNone/>
            </a:pPr>
            <a:r>
              <a:rPr lang="en-US" sz="2400" b="1" dirty="0">
                <a:solidFill>
                  <a:schemeClr val="tx1"/>
                </a:solidFill>
                <a:latin typeface="Arial" pitchFamily="34" charset="0"/>
                <a:ea typeface="Arial" pitchFamily="34" charset="-122"/>
                <a:cs typeface="Arial" pitchFamily="34" charset="-120"/>
              </a:rPr>
              <a:t>→</a:t>
            </a:r>
            <a:endParaRPr lang="en-US" sz="2400" dirty="0"/>
          </a:p>
        </p:txBody>
      </p:sp>
      <p:sp>
        <p:nvSpPr>
          <p:cNvPr id="26" name="Text 23"/>
          <p:cNvSpPr txBox="1"/>
          <p:nvPr/>
        </p:nvSpPr>
        <p:spPr>
          <a:xfrm>
            <a:off x="4297680" y="2697480"/>
            <a:ext cx="548640" cy="457200"/>
          </a:xfrm>
          <a:prstGeom prst="rect">
            <a:avLst/>
          </a:prstGeom>
          <a:noFill/>
          <a:ln/>
        </p:spPr>
        <p:txBody>
          <a:bodyPr wrap="square" lIns="0" tIns="0" rIns="0" bIns="0" rtlCol="0" anchor="t"/>
          <a:lstStyle/>
          <a:p>
            <a:pPr algn="ctr" indent="0" marL="0">
              <a:buNone/>
            </a:pPr>
            <a:r>
              <a:rPr lang="en-US" sz="2400" b="1" dirty="0">
                <a:solidFill>
                  <a:schemeClr val="tx1"/>
                </a:solidFill>
                <a:latin typeface="Arial" pitchFamily="34" charset="0"/>
                <a:ea typeface="Arial" pitchFamily="34" charset="-122"/>
                <a:cs typeface="Arial" pitchFamily="34" charset="-120"/>
              </a:rPr>
              <a:t>↓</a:t>
            </a:r>
            <a:endParaRPr lang="en-US" sz="2400" dirty="0"/>
          </a:p>
        </p:txBody>
      </p:sp>
      <p:sp>
        <p:nvSpPr>
          <p:cNvPr id="27" name="Text 24"/>
          <p:cNvSpPr txBox="1"/>
          <p:nvPr/>
        </p:nvSpPr>
        <p:spPr>
          <a:xfrm>
            <a:off x="6035040" y="3474720"/>
            <a:ext cx="548640" cy="457200"/>
          </a:xfrm>
          <a:prstGeom prst="rect">
            <a:avLst/>
          </a:prstGeom>
          <a:noFill/>
          <a:ln/>
        </p:spPr>
        <p:txBody>
          <a:bodyPr wrap="square" lIns="0" tIns="0" rIns="0" bIns="0" rtlCol="0" anchor="t"/>
          <a:lstStyle/>
          <a:p>
            <a:pPr algn="ctr" indent="0" marL="0">
              <a:buNone/>
            </a:pPr>
            <a:r>
              <a:rPr lang="en-US" sz="2400" b="1" dirty="0">
                <a:solidFill>
                  <a:schemeClr val="tx1"/>
                </a:solidFill>
                <a:latin typeface="Arial" pitchFamily="34" charset="0"/>
                <a:ea typeface="Arial" pitchFamily="34" charset="-122"/>
                <a:cs typeface="Arial" pitchFamily="34" charset="-120"/>
              </a:rPr>
              <a:t>→</a:t>
            </a:r>
            <a:endParaRPr lang="en-US" sz="24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Stack and where AI is used</a:t>
            </a:r>
            <a:endParaRPr lang="en-US" sz="3000" dirty="0"/>
          </a:p>
        </p:txBody>
      </p:sp>
      <p:sp>
        <p:nvSpPr>
          <p:cNvPr id="4" name="shadow42"/>
          <p:cNvSpPr/>
          <p:nvPr/>
        </p:nvSpPr>
        <p:spPr>
          <a:xfrm>
            <a:off x="512064" y="1243584"/>
            <a:ext cx="4023360" cy="3337560"/>
          </a:xfrm>
          <a:prstGeom prst="rect">
            <a:avLst/>
          </a:prstGeom>
          <a:solidFill>
            <a:srgbClr val="000000"/>
          </a:solidFill>
          <a:ln w="12700">
            <a:solidFill>
              <a:srgbClr val="000000"/>
            </a:solidFill>
            <a:prstDash val="solid"/>
          </a:ln>
        </p:spPr>
      </p:sp>
      <p:sp>
        <p:nvSpPr>
          <p:cNvPr id="5" name="card42"/>
          <p:cNvSpPr/>
          <p:nvPr/>
        </p:nvSpPr>
        <p:spPr>
          <a:xfrm>
            <a:off x="457200" y="1188720"/>
            <a:ext cx="4023360" cy="3337560"/>
          </a:xfrm>
          <a:prstGeom prst="rect">
            <a:avLst/>
          </a:prstGeom>
          <a:solidFill>
            <a:srgbClr val="FFFFFF"/>
          </a:solidFill>
          <a:ln w="25400">
            <a:solidFill>
              <a:srgbClr val="000000"/>
            </a:solidFill>
            <a:prstDash val="solid"/>
          </a:ln>
        </p:spPr>
      </p:sp>
      <p:sp>
        <p:nvSpPr>
          <p:cNvPr id="6" name="Text 3"/>
          <p:cNvSpPr txBox="1"/>
          <p:nvPr/>
        </p:nvSpPr>
        <p:spPr>
          <a:xfrm>
            <a:off x="640080" y="1298448"/>
            <a:ext cx="356616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STACK</a:t>
            </a:r>
            <a:endParaRPr lang="en-US" sz="1200" dirty="0"/>
          </a:p>
        </p:txBody>
      </p:sp>
      <p:sp>
        <p:nvSpPr>
          <p:cNvPr id="7" name="Text 4"/>
          <p:cNvSpPr txBox="1"/>
          <p:nvPr/>
        </p:nvSpPr>
        <p:spPr>
          <a:xfrm>
            <a:off x="640080" y="164592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Python, FastAPI, Uvicorn</a:t>
            </a:r>
            <a:endParaRPr lang="en-US" sz="1400" dirty="0"/>
          </a:p>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SQLite (one file, no setup)</a:t>
            </a:r>
            <a:endParaRPr lang="en-US" sz="1400" dirty="0"/>
          </a:p>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Plain HTML, CSS, JavaScript</a:t>
            </a:r>
            <a:endParaRPr lang="en-US" sz="1400" dirty="0"/>
          </a:p>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scrypt passwords, HttpOnly sessions</a:t>
            </a:r>
            <a:endParaRPr lang="en-US" sz="1400" dirty="0"/>
          </a:p>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SHA-256 evidence chain</a:t>
            </a:r>
            <a:endParaRPr lang="en-US" sz="1400" dirty="0"/>
          </a:p>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reportlab for PDFs</a:t>
            </a:r>
            <a:endParaRPr lang="en-US" sz="1400" dirty="0"/>
          </a:p>
          <a:p>
            <a:pPr marL="342900" indent="-342900">
              <a:spcAft>
                <a:spcPts val="600"/>
              </a:spcAft>
              <a:buSzPct val="100000"/>
              <a:buChar char="•"/>
            </a:pPr>
            <a:r>
              <a:rPr lang="en-US" sz="1400" dirty="0">
                <a:solidFill>
                  <a:schemeClr val="tx1"/>
                </a:solidFill>
                <a:latin typeface="Arial" pitchFamily="34" charset="0"/>
                <a:ea typeface="Arial" pitchFamily="34" charset="-122"/>
                <a:cs typeface="Arial" pitchFamily="34" charset="-120"/>
              </a:rPr>
              <a:t>pytest and Playwright for testing</a:t>
            </a:r>
            <a:endParaRPr lang="en-US" sz="1400" dirty="0"/>
          </a:p>
        </p:txBody>
      </p:sp>
      <p:sp>
        <p:nvSpPr>
          <p:cNvPr id="8" name="shadow43"/>
          <p:cNvSpPr/>
          <p:nvPr/>
        </p:nvSpPr>
        <p:spPr>
          <a:xfrm>
            <a:off x="4718304" y="1243584"/>
            <a:ext cx="4023360" cy="3337560"/>
          </a:xfrm>
          <a:prstGeom prst="rect">
            <a:avLst/>
          </a:prstGeom>
          <a:solidFill>
            <a:srgbClr val="000000"/>
          </a:solidFill>
          <a:ln w="12700">
            <a:solidFill>
              <a:srgbClr val="000000"/>
            </a:solidFill>
            <a:prstDash val="solid"/>
          </a:ln>
        </p:spPr>
      </p:sp>
      <p:sp>
        <p:nvSpPr>
          <p:cNvPr id="9" name="card43"/>
          <p:cNvSpPr/>
          <p:nvPr/>
        </p:nvSpPr>
        <p:spPr>
          <a:xfrm>
            <a:off x="4663440" y="1188720"/>
            <a:ext cx="4023360" cy="3337560"/>
          </a:xfrm>
          <a:prstGeom prst="rect">
            <a:avLst/>
          </a:prstGeom>
          <a:solidFill>
            <a:srgbClr val="000000"/>
          </a:solidFill>
          <a:ln w="25400">
            <a:solidFill>
              <a:srgbClr val="000000"/>
            </a:solidFill>
            <a:prstDash val="solid"/>
          </a:ln>
        </p:spPr>
      </p:sp>
      <p:sp>
        <p:nvSpPr>
          <p:cNvPr id="10" name="Text 7"/>
          <p:cNvSpPr txBox="1"/>
          <p:nvPr/>
        </p:nvSpPr>
        <p:spPr>
          <a:xfrm>
            <a:off x="4846320" y="1298448"/>
            <a:ext cx="3566160" cy="27432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AI</a:t>
            </a:r>
            <a:endParaRPr lang="en-US" sz="1200" dirty="0"/>
          </a:p>
        </p:txBody>
      </p:sp>
      <p:sp>
        <p:nvSpPr>
          <p:cNvPr id="11" name="Text 8"/>
          <p:cNvSpPr txBox="1"/>
          <p:nvPr/>
        </p:nvSpPr>
        <p:spPr>
          <a:xfrm>
            <a:off x="4846320" y="164592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Default reader: rules, no AI</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Optional local model: Ollama running qwen2.5:7b on a MacBook</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Optional Claude API</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Answer forced into fixed JSON, with one worked example</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Safety check corrects wrong prices</a:t>
            </a:r>
            <a:endParaRPr lang="en-US" sz="1400" dirty="0"/>
          </a:p>
          <a:p>
            <a:pPr marL="342900" indent="-342900">
              <a:spcAft>
                <a:spcPts val="600"/>
              </a:spcAft>
              <a:buSzPct val="100000"/>
              <a:buChar char="•"/>
            </a:pPr>
            <a:r>
              <a:rPr lang="en-US" sz="1400" dirty="0">
                <a:solidFill>
                  <a:srgbClr val="FFFFFF"/>
                </a:solidFill>
                <a:latin typeface="Arial" pitchFamily="34" charset="0"/>
                <a:ea typeface="Arial" pitchFamily="34" charset="-122"/>
                <a:cs typeface="Arial" pitchFamily="34" charset="-120"/>
              </a:rPr>
              <a:t>Built with Claude as coding assistant</a:t>
            </a:r>
            <a:endParaRPr lang="en-US" sz="14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Tested, not just demoed</a:t>
            </a:r>
            <a:endParaRPr lang="en-US" sz="3000" dirty="0"/>
          </a:p>
        </p:txBody>
      </p:sp>
      <p:sp>
        <p:nvSpPr>
          <p:cNvPr id="4" name="shadow44"/>
          <p:cNvSpPr/>
          <p:nvPr/>
        </p:nvSpPr>
        <p:spPr>
          <a:xfrm>
            <a:off x="512064" y="1243584"/>
            <a:ext cx="1828800" cy="1280160"/>
          </a:xfrm>
          <a:prstGeom prst="rect">
            <a:avLst/>
          </a:prstGeom>
          <a:solidFill>
            <a:srgbClr val="000000"/>
          </a:solidFill>
          <a:ln w="12700">
            <a:solidFill>
              <a:srgbClr val="000000"/>
            </a:solidFill>
            <a:prstDash val="solid"/>
          </a:ln>
        </p:spPr>
      </p:sp>
      <p:sp>
        <p:nvSpPr>
          <p:cNvPr id="5" name="card44"/>
          <p:cNvSpPr/>
          <p:nvPr/>
        </p:nvSpPr>
        <p:spPr>
          <a:xfrm>
            <a:off x="457200" y="1188720"/>
            <a:ext cx="1828800" cy="1280160"/>
          </a:xfrm>
          <a:prstGeom prst="rect">
            <a:avLst/>
          </a:prstGeom>
          <a:solidFill>
            <a:srgbClr val="000000"/>
          </a:solidFill>
          <a:ln w="25400">
            <a:solidFill>
              <a:srgbClr val="000000"/>
            </a:solidFill>
            <a:prstDash val="solid"/>
          </a:ln>
        </p:spPr>
      </p:sp>
      <p:sp>
        <p:nvSpPr>
          <p:cNvPr id="6" name="Text 3"/>
          <p:cNvSpPr txBox="1"/>
          <p:nvPr/>
        </p:nvSpPr>
        <p:spPr>
          <a:xfrm>
            <a:off x="548640" y="1280160"/>
            <a:ext cx="164592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39/39</a:t>
            </a:r>
            <a:endParaRPr lang="en-US" sz="3200" dirty="0"/>
          </a:p>
        </p:txBody>
      </p:sp>
      <p:sp>
        <p:nvSpPr>
          <p:cNvPr id="7" name="Text 4"/>
          <p:cNvSpPr txBox="1"/>
          <p:nvPr/>
        </p:nvSpPr>
        <p:spPr>
          <a:xfrm>
            <a:off x="548640" y="1920240"/>
            <a:ext cx="1645920" cy="457200"/>
          </a:xfrm>
          <a:prstGeom prst="rect">
            <a:avLst/>
          </a:prstGeom>
          <a:noFill/>
          <a:ln/>
        </p:spPr>
        <p:txBody>
          <a:bodyPr wrap="square" lIns="0" tIns="0" rIns="0" bIns="0" rtlCol="0" anchor="t"/>
          <a:lstStyle/>
          <a:p>
            <a:pPr algn="ctr" indent="0" marL="0">
              <a:buNone/>
            </a:pPr>
            <a:r>
              <a:rPr lang="en-US" sz="1200" dirty="0">
                <a:solidFill>
                  <a:srgbClr val="FFFFFF"/>
                </a:solidFill>
                <a:latin typeface="Arial" pitchFamily="34" charset="0"/>
                <a:ea typeface="Arial" pitchFamily="34" charset="-122"/>
                <a:cs typeface="Arial" pitchFamily="34" charset="-120"/>
              </a:rPr>
              <a:t>automated tests passing</a:t>
            </a:r>
            <a:endParaRPr lang="en-US" sz="1200" dirty="0"/>
          </a:p>
        </p:txBody>
      </p:sp>
      <p:sp>
        <p:nvSpPr>
          <p:cNvPr id="8" name="shadow45"/>
          <p:cNvSpPr/>
          <p:nvPr/>
        </p:nvSpPr>
        <p:spPr>
          <a:xfrm>
            <a:off x="2615184" y="1243584"/>
            <a:ext cx="1828800" cy="1280160"/>
          </a:xfrm>
          <a:prstGeom prst="rect">
            <a:avLst/>
          </a:prstGeom>
          <a:solidFill>
            <a:srgbClr val="000000"/>
          </a:solidFill>
          <a:ln w="12700">
            <a:solidFill>
              <a:srgbClr val="000000"/>
            </a:solidFill>
            <a:prstDash val="solid"/>
          </a:ln>
        </p:spPr>
      </p:sp>
      <p:sp>
        <p:nvSpPr>
          <p:cNvPr id="9" name="card45"/>
          <p:cNvSpPr/>
          <p:nvPr/>
        </p:nvSpPr>
        <p:spPr>
          <a:xfrm>
            <a:off x="2560320" y="1188720"/>
            <a:ext cx="1828800" cy="1280160"/>
          </a:xfrm>
          <a:prstGeom prst="rect">
            <a:avLst/>
          </a:prstGeom>
          <a:solidFill>
            <a:srgbClr val="FFFFFF"/>
          </a:solidFill>
          <a:ln w="25400">
            <a:solidFill>
              <a:srgbClr val="000000"/>
            </a:solidFill>
            <a:prstDash val="solid"/>
          </a:ln>
        </p:spPr>
      </p:sp>
      <p:sp>
        <p:nvSpPr>
          <p:cNvPr id="10" name="Text 7"/>
          <p:cNvSpPr txBox="1"/>
          <p:nvPr/>
        </p:nvSpPr>
        <p:spPr>
          <a:xfrm>
            <a:off x="2651760" y="1280160"/>
            <a:ext cx="1645920" cy="640080"/>
          </a:xfrm>
          <a:prstGeom prst="rect">
            <a:avLst/>
          </a:prstGeom>
          <a:noFill/>
          <a:ln/>
        </p:spPr>
        <p:txBody>
          <a:bodyPr wrap="square" lIns="0" tIns="0" rIns="0" bIns="0" rtlCol="0" anchor="ctr"/>
          <a:lstStyle/>
          <a:p>
            <a:pPr algn="ctr" indent="0" marL="0">
              <a:buNone/>
            </a:pPr>
            <a:r>
              <a:rPr lang="en-US" sz="3200" b="1" dirty="0">
                <a:solidFill>
                  <a:srgbClr val="000000"/>
                </a:solidFill>
                <a:latin typeface="Arial" pitchFamily="34" charset="0"/>
                <a:ea typeface="Arial" pitchFamily="34" charset="-122"/>
                <a:cs typeface="Arial" pitchFamily="34" charset="-120"/>
              </a:rPr>
              <a:t>&lt; 1 ms</a:t>
            </a:r>
            <a:endParaRPr lang="en-US" sz="3200" dirty="0"/>
          </a:p>
        </p:txBody>
      </p:sp>
      <p:sp>
        <p:nvSpPr>
          <p:cNvPr id="11" name="Text 8"/>
          <p:cNvSpPr txBox="1"/>
          <p:nvPr/>
        </p:nvSpPr>
        <p:spPr>
          <a:xfrm>
            <a:off x="2651760" y="1920240"/>
            <a:ext cx="1645920" cy="45720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to read the sample chat</a:t>
            </a:r>
            <a:endParaRPr lang="en-US" sz="1200" dirty="0"/>
          </a:p>
        </p:txBody>
      </p:sp>
      <p:sp>
        <p:nvSpPr>
          <p:cNvPr id="12" name="shadow46"/>
          <p:cNvSpPr/>
          <p:nvPr/>
        </p:nvSpPr>
        <p:spPr>
          <a:xfrm>
            <a:off x="4718304" y="1243584"/>
            <a:ext cx="1828800" cy="1280160"/>
          </a:xfrm>
          <a:prstGeom prst="rect">
            <a:avLst/>
          </a:prstGeom>
          <a:solidFill>
            <a:srgbClr val="000000"/>
          </a:solidFill>
          <a:ln w="12700">
            <a:solidFill>
              <a:srgbClr val="000000"/>
            </a:solidFill>
            <a:prstDash val="solid"/>
          </a:ln>
        </p:spPr>
      </p:sp>
      <p:sp>
        <p:nvSpPr>
          <p:cNvPr id="13" name="card46"/>
          <p:cNvSpPr/>
          <p:nvPr/>
        </p:nvSpPr>
        <p:spPr>
          <a:xfrm>
            <a:off x="4663440" y="1188720"/>
            <a:ext cx="1828800" cy="1280160"/>
          </a:xfrm>
          <a:prstGeom prst="rect">
            <a:avLst/>
          </a:prstGeom>
          <a:solidFill>
            <a:srgbClr val="FFFFFF"/>
          </a:solidFill>
          <a:ln w="25400">
            <a:solidFill>
              <a:srgbClr val="000000"/>
            </a:solidFill>
            <a:prstDash val="solid"/>
          </a:ln>
        </p:spPr>
      </p:sp>
      <p:sp>
        <p:nvSpPr>
          <p:cNvPr id="14" name="Text 11"/>
          <p:cNvSpPr txBox="1"/>
          <p:nvPr/>
        </p:nvSpPr>
        <p:spPr>
          <a:xfrm>
            <a:off x="4754880" y="1280160"/>
            <a:ext cx="1645920" cy="640080"/>
          </a:xfrm>
          <a:prstGeom prst="rect">
            <a:avLst/>
          </a:prstGeom>
          <a:noFill/>
          <a:ln/>
        </p:spPr>
        <p:txBody>
          <a:bodyPr wrap="square" lIns="0" tIns="0" rIns="0" bIns="0" rtlCol="0" anchor="ctr"/>
          <a:lstStyle/>
          <a:p>
            <a:pPr algn="ctr" indent="0" marL="0">
              <a:buNone/>
            </a:pPr>
            <a:r>
              <a:rPr lang="en-US" sz="3200" b="1" dirty="0">
                <a:solidFill>
                  <a:srgbClr val="000000"/>
                </a:solidFill>
                <a:latin typeface="Arial" pitchFamily="34" charset="0"/>
                <a:ea typeface="Arial" pitchFamily="34" charset="-122"/>
                <a:cs typeface="Arial" pitchFamily="34" charset="-120"/>
              </a:rPr>
              <a:t>~55</a:t>
            </a:r>
            <a:endParaRPr lang="en-US" sz="3200" dirty="0"/>
          </a:p>
        </p:txBody>
      </p:sp>
      <p:sp>
        <p:nvSpPr>
          <p:cNvPr id="15" name="Text 12"/>
          <p:cNvSpPr txBox="1"/>
          <p:nvPr/>
        </p:nvSpPr>
        <p:spPr>
          <a:xfrm>
            <a:off x="4754880" y="1920240"/>
            <a:ext cx="1645920" cy="45720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API endpoints</a:t>
            </a:r>
            <a:endParaRPr lang="en-US" sz="1200" dirty="0"/>
          </a:p>
        </p:txBody>
      </p:sp>
      <p:sp>
        <p:nvSpPr>
          <p:cNvPr id="16" name="shadow47"/>
          <p:cNvSpPr/>
          <p:nvPr/>
        </p:nvSpPr>
        <p:spPr>
          <a:xfrm>
            <a:off x="6821424" y="1243584"/>
            <a:ext cx="1828800" cy="1280160"/>
          </a:xfrm>
          <a:prstGeom prst="rect">
            <a:avLst/>
          </a:prstGeom>
          <a:solidFill>
            <a:srgbClr val="000000"/>
          </a:solidFill>
          <a:ln w="12700">
            <a:solidFill>
              <a:srgbClr val="000000"/>
            </a:solidFill>
            <a:prstDash val="solid"/>
          </a:ln>
        </p:spPr>
      </p:sp>
      <p:sp>
        <p:nvSpPr>
          <p:cNvPr id="17" name="card47"/>
          <p:cNvSpPr/>
          <p:nvPr/>
        </p:nvSpPr>
        <p:spPr>
          <a:xfrm>
            <a:off x="6766560" y="1188720"/>
            <a:ext cx="1828800" cy="1280160"/>
          </a:xfrm>
          <a:prstGeom prst="rect">
            <a:avLst/>
          </a:prstGeom>
          <a:solidFill>
            <a:srgbClr val="FFFFFF"/>
          </a:solidFill>
          <a:ln w="25400">
            <a:solidFill>
              <a:srgbClr val="000000"/>
            </a:solidFill>
            <a:prstDash val="solid"/>
          </a:ln>
        </p:spPr>
      </p:sp>
      <p:sp>
        <p:nvSpPr>
          <p:cNvPr id="18" name="Text 15"/>
          <p:cNvSpPr txBox="1"/>
          <p:nvPr/>
        </p:nvSpPr>
        <p:spPr>
          <a:xfrm>
            <a:off x="6858000" y="1280160"/>
            <a:ext cx="1645920" cy="640080"/>
          </a:xfrm>
          <a:prstGeom prst="rect">
            <a:avLst/>
          </a:prstGeom>
          <a:noFill/>
          <a:ln/>
        </p:spPr>
        <p:txBody>
          <a:bodyPr wrap="square" lIns="0" tIns="0" rIns="0" bIns="0" rtlCol="0" anchor="ctr"/>
          <a:lstStyle/>
          <a:p>
            <a:pPr algn="ctr" indent="0" marL="0">
              <a:buNone/>
            </a:pPr>
            <a:r>
              <a:rPr lang="en-US" sz="3200" b="1" dirty="0">
                <a:solidFill>
                  <a:srgbClr val="000000"/>
                </a:solidFill>
                <a:latin typeface="Arial" pitchFamily="34" charset="0"/>
                <a:ea typeface="Arial" pitchFamily="34" charset="-122"/>
                <a:cs typeface="Arial" pitchFamily="34" charset="-120"/>
              </a:rPr>
              <a:t>9</a:t>
            </a:r>
            <a:endParaRPr lang="en-US" sz="3200" dirty="0"/>
          </a:p>
        </p:txBody>
      </p:sp>
      <p:sp>
        <p:nvSpPr>
          <p:cNvPr id="19" name="Text 16"/>
          <p:cNvSpPr txBox="1"/>
          <p:nvPr/>
        </p:nvSpPr>
        <p:spPr>
          <a:xfrm>
            <a:off x="6858000" y="1920240"/>
            <a:ext cx="1645920" cy="45720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database tables</a:t>
            </a:r>
            <a:endParaRPr lang="en-US" sz="1200" dirty="0"/>
          </a:p>
        </p:txBody>
      </p:sp>
      <p:sp>
        <p:nvSpPr>
          <p:cNvPr id="20" name="shadow48"/>
          <p:cNvSpPr/>
          <p:nvPr/>
        </p:nvSpPr>
        <p:spPr>
          <a:xfrm>
            <a:off x="512064" y="2843784"/>
            <a:ext cx="8229600" cy="1783080"/>
          </a:xfrm>
          <a:prstGeom prst="rect">
            <a:avLst/>
          </a:prstGeom>
          <a:solidFill>
            <a:srgbClr val="000000"/>
          </a:solidFill>
          <a:ln w="12700">
            <a:solidFill>
              <a:srgbClr val="000000"/>
            </a:solidFill>
            <a:prstDash val="solid"/>
          </a:ln>
        </p:spPr>
      </p:sp>
      <p:sp>
        <p:nvSpPr>
          <p:cNvPr id="21" name="card48"/>
          <p:cNvSpPr/>
          <p:nvPr/>
        </p:nvSpPr>
        <p:spPr>
          <a:xfrm>
            <a:off x="457200" y="2788920"/>
            <a:ext cx="8229600" cy="1783080"/>
          </a:xfrm>
          <a:prstGeom prst="rect">
            <a:avLst/>
          </a:prstGeom>
          <a:solidFill>
            <a:srgbClr val="FFFFFF"/>
          </a:solidFill>
          <a:ln w="25400">
            <a:solidFill>
              <a:srgbClr val="000000"/>
            </a:solidFill>
            <a:prstDash val="solid"/>
          </a:ln>
        </p:spPr>
      </p:sp>
      <p:sp>
        <p:nvSpPr>
          <p:cNvPr id="22" name="Text 19"/>
          <p:cNvSpPr txBox="1"/>
          <p:nvPr/>
        </p:nvSpPr>
        <p:spPr>
          <a:xfrm>
            <a:off x="640080" y="2898648"/>
            <a:ext cx="786384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WHAT THE TESTS PROVE</a:t>
            </a:r>
            <a:endParaRPr lang="en-US" sz="1200" dirty="0"/>
          </a:p>
        </p:txBody>
      </p:sp>
      <p:sp>
        <p:nvSpPr>
          <p:cNvPr id="23" name="Text 20"/>
          <p:cNvSpPr txBox="1"/>
          <p:nvPr/>
        </p:nvSpPr>
        <p:spPr>
          <a:xfrm>
            <a:off x="640080" y="3200400"/>
            <a:ext cx="786384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Arial" pitchFamily="34" charset="0"/>
                <a:ea typeface="Arial" pitchFamily="34" charset="-122"/>
                <a:cs typeface="Arial" pitchFamily="34" charset="-120"/>
              </a:rPr>
              <a:t>Final price follows the quantity change: ₹54,000 for 600 cards</a:t>
            </a:r>
            <a:endParaRPr lang="en-US" sz="1400" dirty="0"/>
          </a:p>
          <a:p>
            <a:pPr marL="342900" indent="-342900">
              <a:spcAft>
                <a:spcPts val="400"/>
              </a:spcAft>
              <a:buSzPct val="100000"/>
              <a:buChar char="•"/>
            </a:pPr>
            <a:r>
              <a:rPr lang="en-US" sz="1400" dirty="0">
                <a:solidFill>
                  <a:schemeClr val="tx1"/>
                </a:solidFill>
                <a:latin typeface="Arial" pitchFamily="34" charset="0"/>
                <a:ea typeface="Arial" pitchFamily="34" charset="-122"/>
                <a:cs typeface="Arial" pitchFamily="34" charset="-120"/>
              </a:rPr>
              <a:t>A quote nobody accepted does not become the price</a:t>
            </a:r>
            <a:endParaRPr lang="en-US" sz="1400" dirty="0"/>
          </a:p>
          <a:p>
            <a:pPr marL="342900" indent="-342900">
              <a:spcAft>
                <a:spcPts val="400"/>
              </a:spcAft>
              <a:buSzPct val="100000"/>
              <a:buChar char="•"/>
            </a:pPr>
            <a:r>
              <a:rPr lang="en-US" sz="1400" dirty="0">
                <a:solidFill>
                  <a:schemeClr val="tx1"/>
                </a:solidFill>
                <a:latin typeface="Arial" pitchFamily="34" charset="0"/>
                <a:ea typeface="Arial" pitchFamily="34" charset="-122"/>
                <a:cs typeface="Arial" pitchFamily="34" charset="-120"/>
              </a:rPr>
              <a:t>Approval is blocked until every term is checked</a:t>
            </a:r>
            <a:endParaRPr lang="en-US" sz="1400" dirty="0"/>
          </a:p>
          <a:p>
            <a:pPr marL="342900" indent="-3429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Changing a stored file or past entry is caught; one dealer cannot see another's data</a:t>
            </a:r>
            <a:endParaRPr lang="en-US" sz="14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Honest status, and what comes next</a:t>
            </a:r>
            <a:endParaRPr lang="en-US" sz="3000" dirty="0"/>
          </a:p>
        </p:txBody>
      </p:sp>
      <p:sp>
        <p:nvSpPr>
          <p:cNvPr id="4" name="shadow49"/>
          <p:cNvSpPr/>
          <p:nvPr/>
        </p:nvSpPr>
        <p:spPr>
          <a:xfrm>
            <a:off x="512064" y="1243584"/>
            <a:ext cx="4023360" cy="3337560"/>
          </a:xfrm>
          <a:prstGeom prst="rect">
            <a:avLst/>
          </a:prstGeom>
          <a:solidFill>
            <a:srgbClr val="000000"/>
          </a:solidFill>
          <a:ln w="12700">
            <a:solidFill>
              <a:srgbClr val="000000"/>
            </a:solidFill>
            <a:prstDash val="solid"/>
          </a:ln>
        </p:spPr>
      </p:sp>
      <p:sp>
        <p:nvSpPr>
          <p:cNvPr id="5" name="card49"/>
          <p:cNvSpPr/>
          <p:nvPr/>
        </p:nvSpPr>
        <p:spPr>
          <a:xfrm>
            <a:off x="457200" y="1188720"/>
            <a:ext cx="4023360" cy="3337560"/>
          </a:xfrm>
          <a:prstGeom prst="rect">
            <a:avLst/>
          </a:prstGeom>
          <a:solidFill>
            <a:srgbClr val="FFFFFF"/>
          </a:solidFill>
          <a:ln w="25400">
            <a:solidFill>
              <a:srgbClr val="000000"/>
            </a:solidFill>
            <a:prstDash val="solid"/>
          </a:ln>
        </p:spPr>
      </p:sp>
      <p:sp>
        <p:nvSpPr>
          <p:cNvPr id="6" name="Text 3"/>
          <p:cNvSpPr txBox="1"/>
          <p:nvPr/>
        </p:nvSpPr>
        <p:spPr>
          <a:xfrm>
            <a:off x="640080" y="1298448"/>
            <a:ext cx="356616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NOT DONE YET</a:t>
            </a:r>
            <a:endParaRPr lang="en-US" sz="1200" dirty="0"/>
          </a:p>
        </p:txBody>
      </p:sp>
      <p:sp>
        <p:nvSpPr>
          <p:cNvPr id="7" name="Text 4"/>
          <p:cNvSpPr txBox="1"/>
          <p:nvPr/>
        </p:nvSpPr>
        <p:spPr>
          <a:xfrm>
            <a:off x="640080" y="1645920"/>
            <a:ext cx="3657600" cy="28346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Arial" pitchFamily="34" charset="0"/>
                <a:ea typeface="Arial" pitchFamily="34" charset="-122"/>
                <a:cs typeface="Arial" pitchFamily="34" charset="-120"/>
              </a:rPr>
              <a:t>OTP is simulated: code shown on screen, no SMS</a:t>
            </a:r>
            <a:endParaRPr lang="en-US" sz="1300" dirty="0"/>
          </a:p>
          <a:p>
            <a:pPr marL="342900" indent="-342900">
              <a:spcAft>
                <a:spcPts val="500"/>
              </a:spcAft>
              <a:buSzPct val="100000"/>
              <a:buChar char="•"/>
            </a:pPr>
            <a:r>
              <a:rPr lang="en-US" sz="1300" dirty="0">
                <a:solidFill>
                  <a:schemeClr val="tx1"/>
                </a:solidFill>
                <a:latin typeface="Arial" pitchFamily="34" charset="0"/>
                <a:ea typeface="Arial" pitchFamily="34" charset="-122"/>
                <a:cs typeface="Arial" pitchFamily="34" charset="-120"/>
              </a:rPr>
              <a:t>No WhatsApp integration; users upload an export</a:t>
            </a:r>
            <a:endParaRPr lang="en-US" sz="1300" dirty="0"/>
          </a:p>
          <a:p>
            <a:pPr marL="342900" indent="-342900">
              <a:spcAft>
                <a:spcPts val="500"/>
              </a:spcAft>
              <a:buSzPct val="100000"/>
              <a:buChar char="•"/>
            </a:pPr>
            <a:r>
              <a:rPr lang="en-US" sz="1300" dirty="0">
                <a:solidFill>
                  <a:schemeClr val="tx1"/>
                </a:solidFill>
                <a:latin typeface="Arial" pitchFamily="34" charset="0"/>
                <a:ea typeface="Arial" pitchFamily="34" charset="-122"/>
                <a:cs typeface="Arial" pitchFamily="34" charset="-120"/>
              </a:rPr>
              <a:t>Not a legal e-signature; enforceability and stamp duty vary by state</a:t>
            </a:r>
            <a:endParaRPr lang="en-US" sz="1300" dirty="0"/>
          </a:p>
          <a:p>
            <a:pPr marL="342900" indent="-342900">
              <a:spcAft>
                <a:spcPts val="500"/>
              </a:spcAft>
              <a:buSzPct val="100000"/>
              <a:buChar char="•"/>
            </a:pPr>
            <a:r>
              <a:rPr lang="en-US" sz="1300" dirty="0">
                <a:solidFill>
                  <a:schemeClr val="tx1"/>
                </a:solidFill>
                <a:latin typeface="Arial" pitchFamily="34" charset="0"/>
                <a:ea typeface="Arial" pitchFamily="34" charset="-122"/>
                <a:cs typeface="Arial" pitchFamily="34" charset="-120"/>
              </a:rPr>
              <a:t>No accuracy benchmark on real chats yet</a:t>
            </a:r>
            <a:endParaRPr lang="en-US" sz="1300" dirty="0"/>
          </a:p>
          <a:p>
            <a:pPr marL="342900" indent="-342900">
              <a:spcAft>
                <a:spcPts val="500"/>
              </a:spcAft>
              <a:buSzPct val="100000"/>
              <a:buChar char="•"/>
            </a:pPr>
            <a:r>
              <a:rPr lang="en-US" sz="1300" dirty="0">
                <a:solidFill>
                  <a:schemeClr val="tx1"/>
                </a:solidFill>
                <a:latin typeface="Arial" pitchFamily="34" charset="0"/>
                <a:ea typeface="Arial" pitchFamily="34" charset="-122"/>
                <a:cs typeface="Arial" pitchFamily="34" charset="-120"/>
              </a:rPr>
              <a:t>Rules reader does not read Kannada script</a:t>
            </a:r>
            <a:endParaRPr lang="en-US" sz="1300" dirty="0"/>
          </a:p>
        </p:txBody>
      </p:sp>
      <p:sp>
        <p:nvSpPr>
          <p:cNvPr id="8" name="shadow50"/>
          <p:cNvSpPr/>
          <p:nvPr/>
        </p:nvSpPr>
        <p:spPr>
          <a:xfrm>
            <a:off x="4718304" y="1243584"/>
            <a:ext cx="4023360" cy="3337560"/>
          </a:xfrm>
          <a:prstGeom prst="rect">
            <a:avLst/>
          </a:prstGeom>
          <a:solidFill>
            <a:srgbClr val="000000"/>
          </a:solidFill>
          <a:ln w="12700">
            <a:solidFill>
              <a:srgbClr val="000000"/>
            </a:solidFill>
            <a:prstDash val="solid"/>
          </a:ln>
        </p:spPr>
      </p:sp>
      <p:sp>
        <p:nvSpPr>
          <p:cNvPr id="9" name="card50"/>
          <p:cNvSpPr/>
          <p:nvPr/>
        </p:nvSpPr>
        <p:spPr>
          <a:xfrm>
            <a:off x="4663440" y="1188720"/>
            <a:ext cx="4023360" cy="3337560"/>
          </a:xfrm>
          <a:prstGeom prst="rect">
            <a:avLst/>
          </a:prstGeom>
          <a:solidFill>
            <a:srgbClr val="000000"/>
          </a:solidFill>
          <a:ln w="25400">
            <a:solidFill>
              <a:srgbClr val="000000"/>
            </a:solidFill>
            <a:prstDash val="solid"/>
          </a:ln>
        </p:spPr>
      </p:sp>
      <p:sp>
        <p:nvSpPr>
          <p:cNvPr id="10" name="Text 7"/>
          <p:cNvSpPr txBox="1"/>
          <p:nvPr/>
        </p:nvSpPr>
        <p:spPr>
          <a:xfrm>
            <a:off x="4846320" y="1298448"/>
            <a:ext cx="3566160" cy="27432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NEXT</a:t>
            </a:r>
            <a:endParaRPr lang="en-US" sz="1200" dirty="0"/>
          </a:p>
        </p:txBody>
      </p:sp>
      <p:sp>
        <p:nvSpPr>
          <p:cNvPr id="11" name="Text 8"/>
          <p:cNvSpPr txBox="1"/>
          <p:nvPr/>
        </p:nvSpPr>
        <p:spPr>
          <a:xfrm>
            <a:off x="4846320" y="1645920"/>
            <a:ext cx="3657600" cy="28346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FFFFFF"/>
                </a:solidFill>
                <a:latin typeface="Arial" pitchFamily="34" charset="0"/>
                <a:ea typeface="Arial" pitchFamily="34" charset="-122"/>
                <a:cs typeface="Arial" pitchFamily="34" charset="-120"/>
              </a:rPr>
              <a:t>Real SMS OTP and licensed e-sign</a:t>
            </a:r>
            <a:endParaRPr lang="en-US" sz="1300" dirty="0"/>
          </a:p>
          <a:p>
            <a:pPr marL="342900" indent="-342900">
              <a:spcAft>
                <a:spcPts val="500"/>
              </a:spcAft>
              <a:buSzPct val="100000"/>
              <a:buChar char="•"/>
            </a:pPr>
            <a:r>
              <a:rPr lang="en-US" sz="1300" dirty="0">
                <a:solidFill>
                  <a:srgbClr val="FFFFFF"/>
                </a:solidFill>
                <a:latin typeface="Arial" pitchFamily="34" charset="0"/>
                <a:ea typeface="Arial" pitchFamily="34" charset="-122"/>
                <a:cs typeface="Arial" pitchFamily="34" charset="-120"/>
              </a:rPr>
              <a:t>WhatsApp Business: send nudges directly</a:t>
            </a:r>
            <a:endParaRPr lang="en-US" sz="1300" dirty="0"/>
          </a:p>
          <a:p>
            <a:pPr marL="342900" indent="-342900">
              <a:spcAft>
                <a:spcPts val="500"/>
              </a:spcAft>
              <a:buSzPct val="100000"/>
              <a:buChar char="•"/>
            </a:pPr>
            <a:r>
              <a:rPr lang="en-US" sz="1300" dirty="0">
                <a:solidFill>
                  <a:srgbClr val="FFFFFF"/>
                </a:solidFill>
                <a:latin typeface="Arial" pitchFamily="34" charset="0"/>
                <a:ea typeface="Arial" pitchFamily="34" charset="-122"/>
                <a:cs typeface="Arial" pitchFamily="34" charset="-120"/>
              </a:rPr>
              <a:t>Postgres, backups, privacy policy</a:t>
            </a:r>
            <a:endParaRPr lang="en-US" sz="1300" dirty="0"/>
          </a:p>
          <a:p>
            <a:pPr marL="342900" indent="-342900">
              <a:spcAft>
                <a:spcPts val="500"/>
              </a:spcAft>
              <a:buSzPct val="100000"/>
              <a:buChar char="•"/>
            </a:pPr>
            <a:r>
              <a:rPr lang="en-US" sz="1300" dirty="0">
                <a:solidFill>
                  <a:srgbClr val="FFFFFF"/>
                </a:solidFill>
                <a:latin typeface="Arial" pitchFamily="34" charset="0"/>
                <a:ea typeface="Arial" pitchFamily="34" charset="-122"/>
                <a:cs typeface="Arial" pitchFamily="34" charset="-120"/>
              </a:rPr>
              <a:t>Test on many real chats and improve from failures</a:t>
            </a:r>
            <a:endParaRPr lang="en-US" sz="1300" dirty="0"/>
          </a:p>
          <a:p>
            <a:pPr marL="342900" indent="-342900">
              <a:spcAft>
                <a:spcPts val="500"/>
              </a:spcAft>
              <a:buSzPct val="100000"/>
              <a:buChar char="•"/>
            </a:pPr>
            <a:r>
              <a:rPr lang="en-US" sz="1300" dirty="0">
                <a:solidFill>
                  <a:srgbClr val="FFFFFF"/>
                </a:solidFill>
                <a:latin typeface="Arial" pitchFamily="34" charset="0"/>
                <a:ea typeface="Arial" pitchFamily="34" charset="-122"/>
                <a:cs typeface="Arial" pitchFamily="34" charset="-120"/>
              </a:rPr>
              <a:t>Kannada and Hindi scripts, reminders, multi-party deals</a:t>
            </a:r>
            <a:endParaRPr lang="en-US" sz="1300" dirty="0"/>
          </a:p>
        </p:txBody>
      </p:sp>
      <p:sp>
        <p:nvSpPr>
          <p:cNvPr id="25" name="Slide Number Placeholder 0"/>
          <p:cNvSpPr>
            <a:spLocks noGrp="1"/>
          </p:cNvSpPr>
          <p:nvPr>
            <p:ph type="sldNum" sz="quarter" idx="4294967295"/>
          </p:nvPr>
        </p:nvSpPr>
        <p:spPr>
          <a:xfrm>
            <a:off x="8229600" y="4846320"/>
            <a:ext cx="457200" cy="29718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8046720" cy="365760"/>
          </a:xfrm>
          <a:prstGeom prst="rect">
            <a:avLst/>
          </a:prstGeom>
          <a:noFill/>
          <a:ln/>
        </p:spPr>
        <p:txBody>
          <a:bodyPr wrap="square" lIns="0" tIns="0" rIns="0" bIns="0" rtlCol="0" anchor="t"/>
          <a:lstStyle/>
          <a:p>
            <a:pPr indent="0" marL="0">
              <a:buNone/>
            </a:pPr>
            <a:r>
              <a:rPr lang="en-US" sz="1400" spc="200" kern="0" dirty="0">
                <a:solidFill>
                  <a:srgbClr val="FFFFFF"/>
                </a:solidFill>
                <a:latin typeface="Courier New" pitchFamily="34" charset="0"/>
                <a:ea typeface="Courier New" pitchFamily="34" charset="-122"/>
                <a:cs typeface="Courier New" pitchFamily="34" charset="-120"/>
              </a:rPr>
              <a:t>TEAM BIG LEAGUES</a:t>
            </a:r>
            <a:endParaRPr lang="en-US" sz="1400" dirty="0"/>
          </a:p>
        </p:txBody>
      </p:sp>
      <p:sp>
        <p:nvSpPr>
          <p:cNvPr id="3" name="Text 1"/>
          <p:cNvSpPr txBox="1"/>
          <p:nvPr/>
        </p:nvSpPr>
        <p:spPr>
          <a:xfrm>
            <a:off x="548640" y="914400"/>
            <a:ext cx="8046720" cy="10972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Informal doesn't have to mean unprovable.</a:t>
            </a:r>
            <a:endParaRPr lang="en-US" sz="3400" dirty="0"/>
          </a:p>
        </p:txBody>
      </p:sp>
      <p:sp>
        <p:nvSpPr>
          <p:cNvPr id="4" name="member0"/>
          <p:cNvSpPr/>
          <p:nvPr/>
        </p:nvSpPr>
        <p:spPr>
          <a:xfrm>
            <a:off x="548640" y="2651760"/>
            <a:ext cx="1874520" cy="1280160"/>
          </a:xfrm>
          <a:prstGeom prst="rect">
            <a:avLst/>
          </a:prstGeom>
          <a:solidFill>
            <a:srgbClr val="FFFFFF"/>
          </a:solidFill>
          <a:ln w="12700">
            <a:solidFill>
              <a:srgbClr val="FFFFFF"/>
            </a:solidFill>
            <a:prstDash val="solid"/>
          </a:ln>
        </p:spPr>
      </p:sp>
      <p:sp>
        <p:nvSpPr>
          <p:cNvPr id="5" name="Text 3"/>
          <p:cNvSpPr txBox="1"/>
          <p:nvPr/>
        </p:nvSpPr>
        <p:spPr>
          <a:xfrm>
            <a:off x="685800" y="2788920"/>
            <a:ext cx="1645920" cy="4572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Chinmay S</a:t>
            </a:r>
            <a:endParaRPr lang="en-US" sz="1500" dirty="0"/>
          </a:p>
        </p:txBody>
      </p:sp>
      <p:sp>
        <p:nvSpPr>
          <p:cNvPr id="6" name="Text 4"/>
          <p:cNvSpPr txBox="1"/>
          <p:nvPr/>
        </p:nvSpPr>
        <p:spPr>
          <a:xfrm>
            <a:off x="685800" y="3337560"/>
            <a:ext cx="1645920"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Backend</a:t>
            </a:r>
            <a:endParaRPr lang="en-US" sz="1200" dirty="0"/>
          </a:p>
        </p:txBody>
      </p:sp>
      <p:sp>
        <p:nvSpPr>
          <p:cNvPr id="7" name="member1"/>
          <p:cNvSpPr/>
          <p:nvPr/>
        </p:nvSpPr>
        <p:spPr>
          <a:xfrm>
            <a:off x="2606040" y="2651760"/>
            <a:ext cx="1874520" cy="1280160"/>
          </a:xfrm>
          <a:prstGeom prst="rect">
            <a:avLst/>
          </a:prstGeom>
          <a:solidFill>
            <a:srgbClr val="FFFFFF"/>
          </a:solidFill>
          <a:ln w="12700">
            <a:solidFill>
              <a:srgbClr val="FFFFFF"/>
            </a:solidFill>
            <a:prstDash val="solid"/>
          </a:ln>
        </p:spPr>
      </p:sp>
      <p:sp>
        <p:nvSpPr>
          <p:cNvPr id="8" name="Text 6"/>
          <p:cNvSpPr txBox="1"/>
          <p:nvPr/>
        </p:nvSpPr>
        <p:spPr>
          <a:xfrm>
            <a:off x="2743200" y="2788920"/>
            <a:ext cx="1645920" cy="4572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Bhakti Chethan</a:t>
            </a:r>
            <a:endParaRPr lang="en-US" sz="1500" dirty="0"/>
          </a:p>
        </p:txBody>
      </p:sp>
      <p:sp>
        <p:nvSpPr>
          <p:cNvPr id="9" name="Text 7"/>
          <p:cNvSpPr txBox="1"/>
          <p:nvPr/>
        </p:nvSpPr>
        <p:spPr>
          <a:xfrm>
            <a:off x="2743200" y="3337560"/>
            <a:ext cx="1645920"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UI / UX</a:t>
            </a:r>
            <a:endParaRPr lang="en-US" sz="1200" dirty="0"/>
          </a:p>
        </p:txBody>
      </p:sp>
      <p:sp>
        <p:nvSpPr>
          <p:cNvPr id="10" name="member2"/>
          <p:cNvSpPr/>
          <p:nvPr/>
        </p:nvSpPr>
        <p:spPr>
          <a:xfrm>
            <a:off x="4663440" y="2651760"/>
            <a:ext cx="1874520" cy="1280160"/>
          </a:xfrm>
          <a:prstGeom prst="rect">
            <a:avLst/>
          </a:prstGeom>
          <a:solidFill>
            <a:srgbClr val="FFFFFF"/>
          </a:solidFill>
          <a:ln w="12700">
            <a:solidFill>
              <a:srgbClr val="FFFFFF"/>
            </a:solidFill>
            <a:prstDash val="solid"/>
          </a:ln>
        </p:spPr>
      </p:sp>
      <p:sp>
        <p:nvSpPr>
          <p:cNvPr id="11" name="Text 9"/>
          <p:cNvSpPr txBox="1"/>
          <p:nvPr/>
        </p:nvSpPr>
        <p:spPr>
          <a:xfrm>
            <a:off x="4800600" y="2788920"/>
            <a:ext cx="1645920" cy="4572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Ayush Iyer</a:t>
            </a:r>
            <a:endParaRPr lang="en-US" sz="1500" dirty="0"/>
          </a:p>
        </p:txBody>
      </p:sp>
      <p:sp>
        <p:nvSpPr>
          <p:cNvPr id="12" name="Text 10"/>
          <p:cNvSpPr txBox="1"/>
          <p:nvPr/>
        </p:nvSpPr>
        <p:spPr>
          <a:xfrm>
            <a:off x="4800600" y="3337560"/>
            <a:ext cx="1645920"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AI integration</a:t>
            </a:r>
            <a:endParaRPr lang="en-US" sz="1200" dirty="0"/>
          </a:p>
        </p:txBody>
      </p:sp>
      <p:sp>
        <p:nvSpPr>
          <p:cNvPr id="13" name="member3"/>
          <p:cNvSpPr/>
          <p:nvPr/>
        </p:nvSpPr>
        <p:spPr>
          <a:xfrm>
            <a:off x="6720840" y="2651760"/>
            <a:ext cx="1874520" cy="1280160"/>
          </a:xfrm>
          <a:prstGeom prst="rect">
            <a:avLst/>
          </a:prstGeom>
          <a:solidFill>
            <a:srgbClr val="FFFFFF"/>
          </a:solidFill>
          <a:ln w="12700">
            <a:solidFill>
              <a:srgbClr val="FFFFFF"/>
            </a:solidFill>
            <a:prstDash val="solid"/>
          </a:ln>
        </p:spPr>
      </p:sp>
      <p:sp>
        <p:nvSpPr>
          <p:cNvPr id="14" name="Text 12"/>
          <p:cNvSpPr txBox="1"/>
          <p:nvPr/>
        </p:nvSpPr>
        <p:spPr>
          <a:xfrm>
            <a:off x="6858000" y="2788920"/>
            <a:ext cx="1645920" cy="4572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Ayush Prashanth</a:t>
            </a:r>
            <a:endParaRPr lang="en-US" sz="1500" dirty="0"/>
          </a:p>
        </p:txBody>
      </p:sp>
      <p:sp>
        <p:nvSpPr>
          <p:cNvPr id="15" name="Text 13"/>
          <p:cNvSpPr txBox="1"/>
          <p:nvPr/>
        </p:nvSpPr>
        <p:spPr>
          <a:xfrm>
            <a:off x="6858000" y="3337560"/>
            <a:ext cx="1645920" cy="45720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UI and landing page</a:t>
            </a:r>
            <a:endParaRPr lang="en-US" sz="1200" dirty="0"/>
          </a:p>
        </p:txBody>
      </p:sp>
      <p:sp>
        <p:nvSpPr>
          <p:cNvPr id="16" name="Text 14"/>
          <p:cNvSpPr txBox="1"/>
          <p:nvPr/>
        </p:nvSpPr>
        <p:spPr>
          <a:xfrm>
            <a:off x="548640" y="4251960"/>
            <a:ext cx="8046720" cy="36576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Thank you. Questions?</a:t>
            </a:r>
            <a:endParaRPr lang="en-US" sz="1600" dirty="0"/>
          </a:p>
        </p:txBody>
      </p:sp>
      <p:sp>
        <p:nvSpPr>
          <p:cNvPr id="25" name="Slide Number Placeholder 0"/>
          <p:cNvSpPr>
            <a:spLocks noGrp="1"/>
          </p:cNvSpPr>
          <p:nvPr>
            <p:ph type="sldNum" sz="quarter" idx="4294967295"/>
          </p:nvPr>
        </p:nvSpPr>
        <p:spPr>
          <a:xfrm>
            <a:off x="822960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ccord Brutalist">
  <a:themeElements>
    <a:clrScheme name="Accord Brutalist">
      <a:dk1>
        <a:srgbClr val="000000"/>
      </a:dk1>
      <a:lt1>
        <a:srgbClr val="FFFFFF"/>
      </a:lt1>
      <a:dk2>
        <a:srgbClr val="222222"/>
      </a:dk2>
      <a:lt2>
        <a:srgbClr val="F0F0F0"/>
      </a:lt2>
      <a:accent1>
        <a:srgbClr val="000000"/>
      </a:accent1>
      <a:accent2>
        <a:srgbClr val="555555"/>
      </a:accent2>
      <a:accent3>
        <a:srgbClr val="BBBBBB"/>
      </a:accent3>
      <a:accent4>
        <a:srgbClr val="888888"/>
      </a:accent4>
      <a:accent5>
        <a:srgbClr val="333333"/>
      </a:accent5>
      <a:accent6>
        <a:srgbClr val="DDDDDD"/>
      </a:accent6>
      <a:hlink>
        <a:srgbClr val="000000"/>
      </a:hlink>
      <a:folHlink>
        <a:srgbClr val="555555"/>
      </a:folHlink>
    </a:clrScheme>
    <a:fontScheme name="Accord Brutali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Accord: From chat to commitment</dc:title>
  <dc:subject>PptxGenJS Presentation</dc:subject>
  <dc:creator>Team Big Leagues</dc:creator>
  <cp:lastModifiedBy>Team Big Leagues</cp:lastModifiedBy>
  <cp:revision>1</cp:revision>
  <dcterms:created xsi:type="dcterms:W3CDTF">2026-10-26T02:18:02Z</dcterms:created>
  <dcterms:modified xsi:type="dcterms:W3CDTF">2026-10-26T02:18:02Z</dcterms:modified>
</cp:coreProperties>
</file>